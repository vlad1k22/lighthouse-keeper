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c9b358263048d7" /><Relationship Type="http://schemas.openxmlformats.org/officeDocument/2006/relationships/extended-properties" Target="/docProps/app.xml" Id="R7329167a15084c95" /><Relationship Type="http://schemas.openxmlformats.org/officeDocument/2006/relationships/officeDocument" Target="/ppt/presentation.xml" Id="Rb3eaa4f3355e44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4539f7000b428f"/>
  </p:sldMasterIdLst>
  <p:notesMasterIdLst>
    <p:notesMasterId xmlns:r="http://schemas.openxmlformats.org/officeDocument/2006/relationships" r:id="R05c6c8a672a34201"/>
  </p:notesMasterIdLst>
  <p:sldIdLst>
    <p:sldId xmlns:r="http://schemas.openxmlformats.org/officeDocument/2006/relationships" id="256" r:id="Rf5a5ab1d3c184ad2"/>
    <p:sldId xmlns:r="http://schemas.openxmlformats.org/officeDocument/2006/relationships" id="257" r:id="Rb3cf91dde7c74780"/>
    <p:sldId xmlns:r="http://schemas.openxmlformats.org/officeDocument/2006/relationships" id="258" r:id="R690929dddcca41ab"/>
    <p:sldId xmlns:r="http://schemas.openxmlformats.org/officeDocument/2006/relationships" id="259" r:id="R7e6bb4b74fa94f90"/>
    <p:sldId xmlns:r="http://schemas.openxmlformats.org/officeDocument/2006/relationships" id="260" r:id="R0a880879d08747a0"/>
    <p:sldId xmlns:r="http://schemas.openxmlformats.org/officeDocument/2006/relationships" id="261" r:id="R0a63831c65c2449d"/>
    <p:sldId xmlns:r="http://schemas.openxmlformats.org/officeDocument/2006/relationships" id="262" r:id="Rcee3da05c474440d"/>
    <p:sldId xmlns:r="http://schemas.openxmlformats.org/officeDocument/2006/relationships" id="263" r:id="R442f78c906e6443e"/>
    <p:sldId xmlns:r="http://schemas.openxmlformats.org/officeDocument/2006/relationships" id="264" r:id="R7365cc3c87904786"/>
    <p:sldId xmlns:r="http://schemas.openxmlformats.org/officeDocument/2006/relationships" id="265" r:id="R7f28daca526f435a"/>
    <p:sldId xmlns:r="http://schemas.openxmlformats.org/officeDocument/2006/relationships" id="266" r:id="R62ef87da62bb43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b0e44171ed4ed2" /><Relationship Type="http://schemas.openxmlformats.org/officeDocument/2006/relationships/slideMaster" Target="/ppt/slideMasters/slideMaster1.xml" Id="R784539f7000b428f" /><Relationship Type="http://schemas.openxmlformats.org/officeDocument/2006/relationships/notesMaster" Target="/ppt/notesMasters/notesMaster1.xml" Id="R05c6c8a672a34201" /><Relationship Type="http://schemas.openxmlformats.org/officeDocument/2006/relationships/presProps" Target="/ppt/presProps.xml" Id="R6fdd8d0d52134048" /><Relationship Type="http://schemas.openxmlformats.org/officeDocument/2006/relationships/tableStyles" Target="/ppt/tableStyles.xml" Id="R4eaa4b32463a43fc" /><Relationship Type="http://schemas.openxmlformats.org/officeDocument/2006/relationships/slide" Target="/ppt/slides/slide1.xml" Id="Rf5a5ab1d3c184ad2" /><Relationship Type="http://schemas.openxmlformats.org/officeDocument/2006/relationships/slide" Target="/ppt/slides/slide2.xml" Id="Rb3cf91dde7c74780" /><Relationship Type="http://schemas.openxmlformats.org/officeDocument/2006/relationships/slide" Target="/ppt/slides/slide3.xml" Id="R690929dddcca41ab" /><Relationship Type="http://schemas.openxmlformats.org/officeDocument/2006/relationships/slide" Target="/ppt/slides/slide4.xml" Id="R7e6bb4b74fa94f90" /><Relationship Type="http://schemas.openxmlformats.org/officeDocument/2006/relationships/slide" Target="/ppt/slides/slide5.xml" Id="R0a880879d08747a0" /><Relationship Type="http://schemas.openxmlformats.org/officeDocument/2006/relationships/slide" Target="/ppt/slides/slide6.xml" Id="R0a63831c65c2449d" /><Relationship Type="http://schemas.openxmlformats.org/officeDocument/2006/relationships/slide" Target="/ppt/slides/slide7.xml" Id="Rcee3da05c474440d" /><Relationship Type="http://schemas.openxmlformats.org/officeDocument/2006/relationships/slide" Target="/ppt/slides/slide8.xml" Id="R442f78c906e6443e" /><Relationship Type="http://schemas.openxmlformats.org/officeDocument/2006/relationships/slide" Target="/ppt/slides/slide9.xml" Id="R7365cc3c87904786" /><Relationship Type="http://schemas.openxmlformats.org/officeDocument/2006/relationships/slide" Target="/ppt/slides/slide10.xml" Id="R7f28daca526f435a" /><Relationship Type="http://schemas.openxmlformats.org/officeDocument/2006/relationships/slide" Target="/ppt/slides/slide11.xml" Id="R62ef87da62bb43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0d333955f349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6ef1f0772f48c8" /><Relationship Type="http://schemas.openxmlformats.org/officeDocument/2006/relationships/notesMaster" Target="/ppt/notesMasters/notesMaster1.xml" Id="R43c9280ee33147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20f91f4d5d45bf" /><Relationship Type="http://schemas.openxmlformats.org/officeDocument/2006/relationships/notesMaster" Target="/ppt/notesMasters/notesMaster1.xml" Id="R5d4f721932154f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990c53c5b6440c" /><Relationship Type="http://schemas.openxmlformats.org/officeDocument/2006/relationships/notesMaster" Target="/ppt/notesMasters/notesMaster1.xml" Id="R9991c832a42343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d44d192dfa4918" /><Relationship Type="http://schemas.openxmlformats.org/officeDocument/2006/relationships/notesMaster" Target="/ppt/notesMasters/notesMaster1.xml" Id="Rec389e92231d40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66b5b25f1345fb" /><Relationship Type="http://schemas.openxmlformats.org/officeDocument/2006/relationships/notesMaster" Target="/ppt/notesMasters/notesMaster1.xml" Id="Rff1623726dc943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699a1396ff4cb7" /><Relationship Type="http://schemas.openxmlformats.org/officeDocument/2006/relationships/notesMaster" Target="/ppt/notesMasters/notesMaster1.xml" Id="R92c295fa4fb54d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56137e898a4c10" /><Relationship Type="http://schemas.openxmlformats.org/officeDocument/2006/relationships/notesMaster" Target="/ppt/notesMasters/notesMaster1.xml" Id="R19dec116a65d45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05d40c5e144092" /><Relationship Type="http://schemas.openxmlformats.org/officeDocument/2006/relationships/notesMaster" Target="/ppt/notesMasters/notesMaster1.xml" Id="Rf9c8af7ecc0e4a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2d0810d6404d83" /><Relationship Type="http://schemas.openxmlformats.org/officeDocument/2006/relationships/notesMaster" Target="/ppt/notesMasters/notesMaster1.xml" Id="R04ca583a73da45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95bfbe08b44d38" /><Relationship Type="http://schemas.openxmlformats.org/officeDocument/2006/relationships/notesMaster" Target="/ppt/notesMasters/notesMaster1.xml" Id="R4eb5d6a8acb94b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ce6ca0ca554d72" /><Relationship Type="http://schemas.openxmlformats.org/officeDocument/2006/relationships/notesMaster" Target="/ppt/notesMasters/notesMaster1.xml" Id="R1d431290a1cc4b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Рабочее название проекта: «Смотритель маяка». Учебный проект находится на стадии концепции. В презентации описаны планируемые механики, а не готовая разработка.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Роли предложены для обсуждения командой и не описывают уже выполненную работу. Прямоугольники служат местами для фотографий. Имена и подписи можно менять в PowerPoint.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Планируем одиночную игру. Герой принимает смену на удалённом острове. Днём он занимается хозяйством и обслуживает маяк, а ночью сталкивается с угрозами. Ориентир длительности прохождения: 30 игровых дней. Формат камеры: изометрическая камера в трёхмерной сцене. VR-режим пока не входит в заявленную концепцию.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Основной игровой цикл повторяется каждый день, но задания и ночные события постепенно усложняются. Пример задания: забрать топливо со склада у берега, отнести его к маяку и зажечь свет до темноты. Игрок выбирает, на что потратить оставшееся дневное время.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описания: https://store.steampowered.com/app/1562430/DREDGE/</a:t>
            </a:r>
          </a:p>
          <a:p xmlns:a="http://schemas.openxmlformats.org/drawingml/2006/main">
            <a:r>
              <a:t>Источник изображения: https://shared.akamai.steamstatic.com/store_item_assets/steam/apps/1562430/ss_e964290b6a6a6941e299ba5be00fd3d98aec6d06.1920x1080.jpg?t=1780479732</a:t>
            </a:r>
          </a:p>
          <a:p xmlns:a="http://schemas.openxmlformats.org/drawingml/2006/main">
            <a:r>
              <a:t>Изображение принадлежит правообладателям игры и используется как референс в учебной презентации.</a:t>
            </a:r>
          </a:p>
          <a:p xmlns:a="http://schemas.openxmlformats.org/drawingml/2006/main">
            <a:r>
              <a:t>Планируем простые 3D-модели с читаемыми силуэтами и умеренной детализацией. Звук моря и ветра должен создавать ощущение изоляции. По мере изменения состояния героя палитра становится холоднее, тени гуще, а привычные звуки искажаются. Изображение DREDGE показывает только направление атмосферы.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описания: https://store.steampowered.com/app/108600/Project_Zomboid/</a:t>
            </a:r>
          </a:p>
          <a:p xmlns:a="http://schemas.openxmlformats.org/drawingml/2006/main">
            <a:r>
              <a:t>Источник изображения: https://shared.akamai.steamstatic.com/store_item_assets/steam/apps/108600/d9df2102dd12526700b15660bc5ec8f039dc8742/ss_d9df2102dd12526700b15660bc5ec8f039dc8742.1920x1080.jpg?t=1787740093</a:t>
            </a:r>
          </a:p>
          <a:p xmlns:a="http://schemas.openxmlformats.org/drawingml/2006/main">
            <a:r>
              <a:t>Изображение принадлежит правообладателям игры и используется как референс в учебной презентации.</a:t>
            </a:r>
          </a:p>
          <a:p xmlns:a="http://schemas.openxmlformats.org/drawingml/2006/main">
            <a:r>
              <a:t>Дополнительные источники: https://store.steampowered.com/app/274520/Darkwood/ и https://store.steampowered.com/app/1562430/DREDGE/</a:t>
            </a:r>
          </a:p>
          <a:p xmlns:a="http://schemas.openxmlformats.org/drawingml/2006/main">
            <a:r>
              <a:t>Project Zomboid служит ориентиром для камеры и бытового выживания. Darkwood помогает сформулировать контраст дневной подготовки и опасной ночи. DREDGE служит ориентиром для морской атмосферы и тревоги в знакомом окружении. Применение этих идей к нашей игре является авторским предложением.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описания: https://store.steampowered.com/app/108600/Project_Zomboid/</a:t>
            </a:r>
          </a:p>
          <a:p xmlns:a="http://schemas.openxmlformats.org/drawingml/2006/main">
            <a:r>
              <a:t>Источник изображения: https://shared.akamai.steamstatic.com/store_item_assets/steam/apps/108600/e0dd37d69051f7da85896d11027ab018d23893fa/ss_e0dd37d69051f7da85896d11027ab018d23893fa.1920x1080.jpg?t=1787740093</a:t>
            </a:r>
          </a:p>
          <a:p xmlns:a="http://schemas.openxmlformats.org/drawingml/2006/main">
            <a:r>
              <a:t>Изображение принадлежит правообладателям игры и используется как референс в учебной презентации.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описания: https://store.steampowered.com/app/1562430/DREDGE/</a:t>
            </a:r>
          </a:p>
          <a:p xmlns:a="http://schemas.openxmlformats.org/drawingml/2006/main">
            <a:r>
              <a:t>Источник изображения: https://shared.akamai.steamstatic.com/store_item_assets/steam/apps/1562430/ss_70f88014423ed93eaa111c0d0daca2c500f76908.1920x1080.jpg?t=1780479732</a:t>
            </a:r>
          </a:p>
          <a:p xmlns:a="http://schemas.openxmlformats.org/drawingml/2006/main">
            <a:r>
              <a:t>Изображение принадлежит правообладателям игры и используется как референс в учебной презентации.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описания: https://store.steampowered.com/app/274520/Darkwood/</a:t>
            </a:r>
          </a:p>
          <a:p xmlns:a="http://schemas.openxmlformats.org/drawingml/2006/main">
            <a:r>
              <a:t>Источник изображения: https://shared.akamai.steamstatic.com/store_item_assets/steam/apps/274520/5b6bdd5ebe2f4f0d816aa2e46c26325e88066fab/ss_5b6bdd5ebe2f4f0d816aa2e46c26325e88066fab.1920x1080.jpg?t=1789669390</a:t>
            </a:r>
          </a:p>
          <a:p xmlns:a="http://schemas.openxmlformats.org/drawingml/2006/main">
            <a:r>
              <a:t>Изображение принадлежит правообладателям игры и используется как референс в учебной презентации.</a:t>
            </a:r>
          </a:p>
          <a:p xmlns:a="http://schemas.openxmlformats.org/drawingml/2006/main">
            <a:r>
              <a:t>Визуальные признаки отобраны командой как ориентиры для будущей игры.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перечисленные механики находятся на стадии идеи. Приоритет первого прототипа: перемещение, взаимодействие, ресурсы, одно задание, свет и смена дня и ночи. Полноценные рыбалка, крафт и строительство могут добавляться после проверки основного цикла.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Предлагаемая структура небольшой карты. Иллюстрация концепции создана встроенным инструментом ImageGen и не является скриншотом готовой игры.</a:t>
            </a:r>
          </a:p>
          <a:p xmlns:a="http://schemas.openxmlformats.org/drawingml/2006/main">
            <a:r>
              <a:t>Промпт: Compact remote island in muted stylized 3D, high isometric camera. One lighthouse, one keeper cabin, a small conifer forest, a sandy beach and fishing landing. Paths connect locations. Early dusk, warm lighthouse light, cool sea. No text, no HUD, no monsters. Proposed environment concept for Lighthouse Keeper, not a game screenshot.</a:t>
            </a:r>
          </a:p>
          <a:p xmlns:a="http://schemas.openxmlformats.org/drawingml/2006/main">
            <a:r>
              <a:t>Маяк является главным ориентиром. Хижина служит базой. Лес и берег дают разные ресурсы, поэтому игроку нужно планировать маршруты и время возвращения.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Предлагаемый вариант сюжета: изоляция, однообразная работа и недосып меняют восприятие героя. Существа могут оказаться его галлюцинациями. До финала игрок не получает однозначного подтверждения. Возможные подсказки: собственные записи героя, изменяющиеся таблички, голоса из отключённого радио, несовпадения в журнале смен. Это художественная условность сюжета.</a:t>
            </a:r>
          </a:p>
          <a:p xmlns:a="http://schemas.openxmlformats.org/drawingml/2006/main">
            <a:r>
              <a:t>Предлагаемая прогрессия: в начале существа лишь наблюдают, затем преследуют героя, а позднее опасные встречи становятся чаще.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Предлагаемый минимальный объём первой версии, когда команда приступит к разработке. Задача: проверить один игровой день от получения задания до ночного события. Это план работ, а не отчёт о готовых функциях. После проверки цикла можно расширять строительство, рыбалку, виды существ и сюжетные события.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742d761844a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18d8c4a88541d1" /><Relationship Type="http://schemas.openxmlformats.org/officeDocument/2006/relationships/slideLayout" Target="/ppt/slideLayouts/slideLayout1.xml" Id="R293465ddb78841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3465ddb78841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1ffbd0881425b" /><Relationship Type="http://schemas.openxmlformats.org/officeDocument/2006/relationships/notesSlide" Target="/ppt/notesSlides/notesSlide1.xml" Id="R724e3e4e092f4b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14638b499451e" /><Relationship Type="http://schemas.openxmlformats.org/officeDocument/2006/relationships/notesSlide" Target="/ppt/notesSlides/notesSlide2.xml" Id="R2831d8bf414d43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8c7109e344ee5" /><Relationship Type="http://schemas.openxmlformats.org/officeDocument/2006/relationships/notesSlide" Target="/ppt/notesSlides/notesSlide3.xml" Id="R04663fef7e3c41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bc0fb32564106" /><Relationship Type="http://schemas.openxmlformats.org/officeDocument/2006/relationships/notesSlide" Target="/ppt/notesSlides/notesSlide4.xml" Id="R28fe7d3500484a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c2cf77e9644e1" /><Relationship Type="http://schemas.openxmlformats.org/officeDocument/2006/relationships/image" Target="/ppt/media/image.jpeg" Id="R863ff5b26c0b403e" /><Relationship Type="http://schemas.openxmlformats.org/officeDocument/2006/relationships/notesSlide" Target="/ppt/notesSlides/notesSlide5.xml" Id="Raa84beee224642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d67ed1a064431" /><Relationship Type="http://schemas.openxmlformats.org/officeDocument/2006/relationships/image" Target="/ppt/media/image2.jpeg" Id="R52fd9d97a122421f" /><Relationship Type="http://schemas.openxmlformats.org/officeDocument/2006/relationships/notesSlide" Target="/ppt/notesSlides/notesSlide6.xml" Id="R77159c09213141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3aa8a92764b5d" /><Relationship Type="http://schemas.openxmlformats.org/officeDocument/2006/relationships/image" Target="/ppt/media/image3.jpeg" Id="Re57ac2f25026455e" /><Relationship Type="http://schemas.openxmlformats.org/officeDocument/2006/relationships/image" Target="/ppt/media/image4.jpeg" Id="Rdbd84e5a58ce4caf" /><Relationship Type="http://schemas.openxmlformats.org/officeDocument/2006/relationships/image" Target="/ppt/media/image5.jpeg" Id="R209ef468ba484517" /><Relationship Type="http://schemas.openxmlformats.org/officeDocument/2006/relationships/notesSlide" Target="/ppt/notesSlides/notesSlide7.xml" Id="Re90de402856947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8639e11ca47d2" /><Relationship Type="http://schemas.openxmlformats.org/officeDocument/2006/relationships/notesSlide" Target="/ppt/notesSlides/notesSlide8.xml" Id="R6709bec93b8a4f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66df41b684453" /><Relationship Type="http://schemas.openxmlformats.org/officeDocument/2006/relationships/image" Target="/ppt/media/image.png" Id="R82d4290eeb1e4cb8" /><Relationship Type="http://schemas.openxmlformats.org/officeDocument/2006/relationships/notesSlide" Target="/ppt/notesSlides/notesSlide9.xml" Id="R3c68edf770f24c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3a56922a94458" /><Relationship Type="http://schemas.openxmlformats.org/officeDocument/2006/relationships/notesSlide" Target="/ppt/notesSlides/notesSlide10.xml" Id="R77ebec950c8049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535106ed34b64" /><Relationship Type="http://schemas.openxmlformats.org/officeDocument/2006/relationships/notesSlide" Target="/ppt/notesSlides/notesSlide11.xml" Id="R05e5d0847ae343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оект по курсу&#10;«Платформы виртуальной&#10;реальности»">
            <a:extLst xmlns:a="http://schemas.openxmlformats.org/drawingml/2006/main">
              <a:ext uri="{FF2B5EF4-FFF2-40B4-BE49-F238E27FC236}">
                <a16:creationId xmlns:a16="http://schemas.microsoft.com/office/drawing/2014/main" id="{F4A23FC0-E99E-4D8C-9689-121A958C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10287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Проект по курсу</a:t>
            </a:r>
          </a:p>
          <a:p xmlns:a="http://schemas.openxmlformats.org/drawingml/2006/main">
            <a:pPr algn="ctr">
              <a:defRPr sz="4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«Платформы виртуальной</a:t>
            </a:r>
          </a:p>
          <a:p xmlns:a="http://schemas.openxmlformats.org/drawingml/2006/main">
            <a:pPr algn="ctr">
              <a:defRPr sz="42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реальности»</a:t>
            </a:r>
          </a:p>
        </p:txBody>
      </p:sp>
      <p:sp>
        <p:nvSpPr>
          <p:cNvPr id="2" name="Смотритель маяка">
            <a:extLst xmlns:a="http://schemas.openxmlformats.org/drawingml/2006/main">
              <a:ext uri="{FF2B5EF4-FFF2-40B4-BE49-F238E27FC236}">
                <a16:creationId xmlns:a16="http://schemas.microsoft.com/office/drawing/2014/main" id="{F52AFAF7-09F8-4ED7-9FF6-B4126409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339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AC7939"/>
                </a:solidFill>
                <a:latin typeface="Arial"/>
                <a:ea typeface="Arial"/>
                <a:cs typeface="Arial"/>
              </a:rPr>
              <a:t>Смотритель маяка</a:t>
            </a:r>
          </a:p>
        </p:txBody>
      </p:sp>
    </p:spTree>
    <p:extLst>
      <p:ext uri="{BB962C8B-B14F-4D97-AF65-F5344CB8AC3E}">
        <p14:creationId xmlns:p14="http://schemas.microsoft.com/office/powerpoint/2010/main" val="16336973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Команда проекта">
            <a:extLst xmlns:a="http://schemas.openxmlformats.org/drawingml/2006/main">
              <a:ext uri="{FF2B5EF4-FFF2-40B4-BE49-F238E27FC236}">
                <a16:creationId xmlns:a16="http://schemas.microsoft.com/office/drawing/2014/main" id="{211F2E50-1364-40A5-B9A8-2A938943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Команда проекта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C0E4E8AA-4760-4F91-AE40-356036E9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Предлагаемое распределение ролей">
            <a:extLst xmlns:a="http://schemas.openxmlformats.org/drawingml/2006/main">
              <a:ext uri="{FF2B5EF4-FFF2-40B4-BE49-F238E27FC236}">
                <a16:creationId xmlns:a16="http://schemas.microsoft.com/office/drawing/2014/main" id="{83493EFD-A507-4A28-BF66-079D9C52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Предлагаемое распределение ролей</a:t>
            </a:r>
          </a:p>
        </p:txBody>
      </p:sp>
      <p:sp>
        <p:nvSpPr>
          <p:cNvPr id="4" name="Место для фотографии Влад Людкевич">
            <a:extLst xmlns:a="http://schemas.openxmlformats.org/drawingml/2006/main">
              <a:ext uri="{FF2B5EF4-FFF2-40B4-BE49-F238E27FC236}">
                <a16:creationId xmlns:a16="http://schemas.microsoft.com/office/drawing/2014/main" id="{72D78E07-E118-4105-8B52-3CD4E28D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5050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4"/>
          </a:solidFill>
          <a:ln xmlns:a="http://schemas.openxmlformats.org/drawingml/2006/main" w="9525">
            <a:solidFill>
              <a:srgbClr val="C6D0CB"/>
            </a:solidFill>
          </a:ln>
        </p:spPr>
      </p:sp>
      <p:sp>
        <p:nvSpPr>
          <p:cNvPr id="5" name="Место для фото">
            <a:extLst xmlns:a="http://schemas.openxmlformats.org/drawingml/2006/main">
              <a:ext uri="{FF2B5EF4-FFF2-40B4-BE49-F238E27FC236}">
                <a16:creationId xmlns:a16="http://schemas.microsoft.com/office/drawing/2014/main" id="{748F36B7-8E1C-4DD9-A63C-A2CC8CB7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200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Место для фото</a:t>
            </a:r>
          </a:p>
        </p:txBody>
      </p:sp>
      <p:sp>
        <p:nvSpPr>
          <p:cNvPr id="6" name="Влад&#10;Людкевич">
            <a:extLst xmlns:a="http://schemas.openxmlformats.org/drawingml/2006/main">
              <a:ext uri="{FF2B5EF4-FFF2-40B4-BE49-F238E27FC236}">
                <a16:creationId xmlns:a16="http://schemas.microsoft.com/office/drawing/2014/main" id="{FAF79E6D-9CDC-48D2-BC25-3899D70F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200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Влад</a:t>
            </a:r>
          </a:p>
          <a:p xmlns:a="http://schemas.openxmlformats.org/drawingml/2006/main"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Людкевич</a:t>
            </a:r>
          </a:p>
        </p:txBody>
      </p:sp>
      <p:sp>
        <p:nvSpPr>
          <p:cNvPr id="7" name="Геймдизайнер&#10;и сценарист">
            <a:extLst xmlns:a="http://schemas.openxmlformats.org/drawingml/2006/main">
              <a:ext uri="{FF2B5EF4-FFF2-40B4-BE49-F238E27FC236}">
                <a16:creationId xmlns:a16="http://schemas.microsoft.com/office/drawing/2014/main" id="{A0444CAD-E1CB-4F6C-B998-FA342F75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2002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Геймдизайнер</a:t>
            </a:r>
          </a:p>
          <a:p xmlns:a="http://schemas.openxmlformats.org/drawingml/2006/main"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сценарист</a:t>
            </a:r>
          </a:p>
        </p:txBody>
      </p:sp>
      <p:sp>
        <p:nvSpPr>
          <p:cNvPr id="8" name="Место для фотографии Костя Котельников">
            <a:extLst xmlns:a="http://schemas.openxmlformats.org/drawingml/2006/main">
              <a:ext uri="{FF2B5EF4-FFF2-40B4-BE49-F238E27FC236}">
                <a16:creationId xmlns:a16="http://schemas.microsoft.com/office/drawing/2014/main" id="{3C3611B7-945C-4A47-AA4C-DE7EA352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19300"/>
            <a:ext cx="25050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4"/>
          </a:solidFill>
          <a:ln xmlns:a="http://schemas.openxmlformats.org/drawingml/2006/main" w="9525">
            <a:solidFill>
              <a:srgbClr val="C6D0CB"/>
            </a:solidFill>
          </a:ln>
        </p:spPr>
      </p:sp>
      <p:sp>
        <p:nvSpPr>
          <p:cNvPr id="9" name="Место для фото">
            <a:extLst xmlns:a="http://schemas.openxmlformats.org/drawingml/2006/main">
              <a:ext uri="{FF2B5EF4-FFF2-40B4-BE49-F238E27FC236}">
                <a16:creationId xmlns:a16="http://schemas.microsoft.com/office/drawing/2014/main" id="{2333EE1F-D51D-4877-AFB7-A765FBAF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43150"/>
            <a:ext cx="2200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Место для фото</a:t>
            </a:r>
          </a:p>
        </p:txBody>
      </p:sp>
      <p:sp>
        <p:nvSpPr>
          <p:cNvPr id="10" name="Костя&#10;Котельников">
            <a:extLst xmlns:a="http://schemas.openxmlformats.org/drawingml/2006/main">
              <a:ext uri="{FF2B5EF4-FFF2-40B4-BE49-F238E27FC236}">
                <a16:creationId xmlns:a16="http://schemas.microsoft.com/office/drawing/2014/main" id="{BCC8EC24-0E0C-443D-AE81-F8ADB253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733800"/>
            <a:ext cx="2200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Костя</a:t>
            </a:r>
          </a:p>
          <a:p xmlns:a="http://schemas.openxmlformats.org/drawingml/2006/main"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Котельников</a:t>
            </a:r>
          </a:p>
        </p:txBody>
      </p:sp>
      <p:sp>
        <p:nvSpPr>
          <p:cNvPr id="11" name="Программист&#10;игровых механик">
            <a:extLst xmlns:a="http://schemas.openxmlformats.org/drawingml/2006/main">
              <a:ext uri="{FF2B5EF4-FFF2-40B4-BE49-F238E27FC236}">
                <a16:creationId xmlns:a16="http://schemas.microsoft.com/office/drawing/2014/main" id="{0ADCF54E-50CB-4D87-8E07-533FD9B4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762500"/>
            <a:ext cx="22002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Программист</a:t>
            </a:r>
          </a:p>
          <a:p xmlns:a="http://schemas.openxmlformats.org/drawingml/2006/main"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игровых механик</a:t>
            </a:r>
          </a:p>
        </p:txBody>
      </p:sp>
      <p:sp>
        <p:nvSpPr>
          <p:cNvPr id="12" name="Место для фотографии Андрей Виговский">
            <a:extLst xmlns:a="http://schemas.openxmlformats.org/drawingml/2006/main">
              <a:ext uri="{FF2B5EF4-FFF2-40B4-BE49-F238E27FC236}">
                <a16:creationId xmlns:a16="http://schemas.microsoft.com/office/drawing/2014/main" id="{5391E56C-82F4-4A9B-A5FA-0B54B127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19300"/>
            <a:ext cx="25050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4"/>
          </a:solidFill>
          <a:ln xmlns:a="http://schemas.openxmlformats.org/drawingml/2006/main" w="9525">
            <a:solidFill>
              <a:srgbClr val="C6D0CB"/>
            </a:solidFill>
          </a:ln>
        </p:spPr>
      </p:sp>
      <p:sp>
        <p:nvSpPr>
          <p:cNvPr id="13" name="Место для фото">
            <a:extLst xmlns:a="http://schemas.openxmlformats.org/drawingml/2006/main">
              <a:ext uri="{FF2B5EF4-FFF2-40B4-BE49-F238E27FC236}">
                <a16:creationId xmlns:a16="http://schemas.microsoft.com/office/drawing/2014/main" id="{F0DE51B3-EFEA-4DD6-84AA-314FC87F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2200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Место для фото</a:t>
            </a:r>
          </a:p>
        </p:txBody>
      </p:sp>
      <p:sp>
        <p:nvSpPr>
          <p:cNvPr id="14" name="Андрей&#10;Виговский">
            <a:extLst xmlns:a="http://schemas.openxmlformats.org/drawingml/2006/main">
              <a:ext uri="{FF2B5EF4-FFF2-40B4-BE49-F238E27FC236}">
                <a16:creationId xmlns:a16="http://schemas.microsoft.com/office/drawing/2014/main" id="{6085C0AE-5F21-4F97-8D5A-AC1FE723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2200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Андрей</a:t>
            </a:r>
          </a:p>
          <a:p xmlns:a="http://schemas.openxmlformats.org/drawingml/2006/main"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Виговский</a:t>
            </a:r>
          </a:p>
        </p:txBody>
      </p:sp>
      <p:sp>
        <p:nvSpPr>
          <p:cNvPr id="15" name="3D-художник&#10;и дизайнер уровней">
            <a:extLst xmlns:a="http://schemas.openxmlformats.org/drawingml/2006/main">
              <a:ext uri="{FF2B5EF4-FFF2-40B4-BE49-F238E27FC236}">
                <a16:creationId xmlns:a16="http://schemas.microsoft.com/office/drawing/2014/main" id="{2371036F-9311-4034-BFAD-4141E6E5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22002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3D-художник</a:t>
            </a:r>
          </a:p>
          <a:p xmlns:a="http://schemas.openxmlformats.org/drawingml/2006/main"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дизайнер уровней</a:t>
            </a:r>
          </a:p>
        </p:txBody>
      </p:sp>
      <p:sp>
        <p:nvSpPr>
          <p:cNvPr id="16" name="Место для фотографии Артем Артамонов">
            <a:extLst xmlns:a="http://schemas.openxmlformats.org/drawingml/2006/main">
              <a:ext uri="{FF2B5EF4-FFF2-40B4-BE49-F238E27FC236}">
                <a16:creationId xmlns:a16="http://schemas.microsoft.com/office/drawing/2014/main" id="{2CB9879A-BECC-4462-8E7C-29E378F4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19300"/>
            <a:ext cx="25050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4"/>
          </a:solidFill>
          <a:ln xmlns:a="http://schemas.openxmlformats.org/drawingml/2006/main" w="9525">
            <a:solidFill>
              <a:srgbClr val="C6D0CB"/>
            </a:solidFill>
          </a:ln>
        </p:spPr>
      </p:sp>
      <p:sp>
        <p:nvSpPr>
          <p:cNvPr id="17" name="Место для фото">
            <a:extLst xmlns:a="http://schemas.openxmlformats.org/drawingml/2006/main">
              <a:ext uri="{FF2B5EF4-FFF2-40B4-BE49-F238E27FC236}">
                <a16:creationId xmlns:a16="http://schemas.microsoft.com/office/drawing/2014/main" id="{96B22463-0638-4241-81A8-77F10CE4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43150"/>
            <a:ext cx="2200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Место для фото</a:t>
            </a:r>
          </a:p>
        </p:txBody>
      </p:sp>
      <p:sp>
        <p:nvSpPr>
          <p:cNvPr id="18" name="Артем&#10;Артамонов">
            <a:extLst xmlns:a="http://schemas.openxmlformats.org/drawingml/2006/main">
              <a:ext uri="{FF2B5EF4-FFF2-40B4-BE49-F238E27FC236}">
                <a16:creationId xmlns:a16="http://schemas.microsoft.com/office/drawing/2014/main" id="{B6FE76F9-5213-4FDE-882F-4599A71E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733800"/>
            <a:ext cx="2200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Артем</a:t>
            </a:r>
          </a:p>
          <a:p xmlns:a="http://schemas.openxmlformats.org/drawingml/2006/main">
            <a:pPr algn="ctr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Артамонов</a:t>
            </a:r>
          </a:p>
        </p:txBody>
      </p:sp>
      <p:sp>
        <p:nvSpPr>
          <p:cNvPr id="19" name="Звукорежиссёр&#10;и тестировщик">
            <a:extLst xmlns:a="http://schemas.openxmlformats.org/drawingml/2006/main">
              <a:ext uri="{FF2B5EF4-FFF2-40B4-BE49-F238E27FC236}">
                <a16:creationId xmlns:a16="http://schemas.microsoft.com/office/drawing/2014/main" id="{EB1DE8B3-711F-4708-BF1B-0077CA20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62500"/>
            <a:ext cx="22002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Звукорежиссёр</a:t>
            </a:r>
          </a:p>
          <a:p xmlns:a="http://schemas.openxmlformats.org/drawingml/2006/main">
            <a:pPr algn="ctr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тестировщик</a:t>
            </a:r>
          </a:p>
        </p:txBody>
      </p:sp>
    </p:spTree>
    <p:extLst>
      <p:ext uri="{BB962C8B-B14F-4D97-AF65-F5344CB8AC3E}">
        <p14:creationId xmlns:p14="http://schemas.microsoft.com/office/powerpoint/2010/main" val="18640822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Концепция и идея">
            <a:extLst xmlns:a="http://schemas.openxmlformats.org/drawingml/2006/main">
              <a:ext uri="{FF2B5EF4-FFF2-40B4-BE49-F238E27FC236}">
                <a16:creationId xmlns:a16="http://schemas.microsoft.com/office/drawing/2014/main" id="{6ECA602C-1717-4C1A-8CB4-7D5DCE3A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Концепция и идея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E43AA9C0-2974-4997-B71D-A79BC562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«Смотритель маяка»">
            <a:extLst xmlns:a="http://schemas.openxmlformats.org/drawingml/2006/main">
              <a:ext uri="{FF2B5EF4-FFF2-40B4-BE49-F238E27FC236}">
                <a16:creationId xmlns:a16="http://schemas.microsoft.com/office/drawing/2014/main" id="{87B0F60B-AD91-4915-904D-59E0B26C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«Смотритель маяка»</a:t>
            </a:r>
          </a:p>
        </p:txBody>
      </p:sp>
      <p:sp>
        <p:nvSpPr>
          <p:cNvPr id="4" name="Жанр">
            <a:extLst xmlns:a="http://schemas.openxmlformats.org/drawingml/2006/main">
              <a:ext uri="{FF2B5EF4-FFF2-40B4-BE49-F238E27FC236}">
                <a16:creationId xmlns:a16="http://schemas.microsoft.com/office/drawing/2014/main" id="{E836EAEE-3C1D-4D07-AD49-54842E6E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Жанр</a:t>
            </a:r>
          </a:p>
        </p:txBody>
      </p:sp>
      <p:sp>
        <p:nvSpPr>
          <p:cNvPr id="5" name="Survival horror с крафтом&#10;и строительством">
            <a:extLst xmlns:a="http://schemas.openxmlformats.org/drawingml/2006/main">
              <a:ext uri="{FF2B5EF4-FFF2-40B4-BE49-F238E27FC236}">
                <a16:creationId xmlns:a16="http://schemas.microsoft.com/office/drawing/2014/main" id="{2462EEE6-F0B8-4643-8ABE-5F443FBF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Survival horror с крафтом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строительством</a:t>
            </a:r>
          </a:p>
        </p:txBody>
      </p:sp>
      <p:sp>
        <p:nvSpPr>
          <p:cNvPr id="6" name="Камера">
            <a:extLst xmlns:a="http://schemas.openxmlformats.org/drawingml/2006/main">
              <a:ext uri="{FF2B5EF4-FFF2-40B4-BE49-F238E27FC236}">
                <a16:creationId xmlns:a16="http://schemas.microsoft.com/office/drawing/2014/main" id="{FFF74C3F-910C-49F2-B166-5EB9BD4B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Камера</a:t>
            </a:r>
          </a:p>
        </p:txBody>
      </p:sp>
      <p:sp>
        <p:nvSpPr>
          <p:cNvPr id="7" name="Изометрический вид сверху&#10;в объёмной 3D-сцене">
            <a:extLst xmlns:a="http://schemas.openxmlformats.org/drawingml/2006/main">
              <a:ext uri="{FF2B5EF4-FFF2-40B4-BE49-F238E27FC236}">
                <a16:creationId xmlns:a16="http://schemas.microsoft.com/office/drawing/2014/main" id="{0599010C-9C7D-4705-9F3D-5B9EB614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Изометрический вид сверху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в объёмной 3D-сцене</a:t>
            </a:r>
          </a:p>
        </p:txBody>
      </p:sp>
      <p:sp>
        <p:nvSpPr>
          <p:cNvPr id="8" name="Место действия">
            <a:extLst xmlns:a="http://schemas.openxmlformats.org/drawingml/2006/main">
              <a:ext uri="{FF2B5EF4-FFF2-40B4-BE49-F238E27FC236}">
                <a16:creationId xmlns:a16="http://schemas.microsoft.com/office/drawing/2014/main" id="{78C13FA4-CE18-47A6-B145-6E483202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Место действия</a:t>
            </a:r>
          </a:p>
        </p:txBody>
      </p:sp>
      <p:sp>
        <p:nvSpPr>
          <p:cNvPr id="9" name="Небольшой остров с маяком,&#10;хижиной, лесом и пляжем">
            <a:extLst xmlns:a="http://schemas.openxmlformats.org/drawingml/2006/main">
              <a:ext uri="{FF2B5EF4-FFF2-40B4-BE49-F238E27FC236}">
                <a16:creationId xmlns:a16="http://schemas.microsoft.com/office/drawing/2014/main" id="{919A7797-CA6A-494F-90E7-E06695DD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Небольшой остров с маяком,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хижиной, лесом и пляжем</a:t>
            </a:r>
          </a:p>
        </p:txBody>
      </p:sp>
      <p:sp>
        <p:nvSpPr>
          <p:cNvPr id="10" name="Цель игрока">
            <a:extLst xmlns:a="http://schemas.openxmlformats.org/drawingml/2006/main">
              <a:ext uri="{FF2B5EF4-FFF2-40B4-BE49-F238E27FC236}">
                <a16:creationId xmlns:a16="http://schemas.microsoft.com/office/drawing/2014/main" id="{53F4B88E-69A4-4DB0-8DBD-E697A2EF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Цель игрока</a:t>
            </a:r>
          </a:p>
        </p:txBody>
      </p:sp>
      <p:sp>
        <p:nvSpPr>
          <p:cNvPr id="11" name="Продержаться 30 игровых дней&#10;и поддерживать работу маяка">
            <a:extLst xmlns:a="http://schemas.openxmlformats.org/drawingml/2006/main">
              <a:ext uri="{FF2B5EF4-FFF2-40B4-BE49-F238E27FC236}">
                <a16:creationId xmlns:a16="http://schemas.microsoft.com/office/drawing/2014/main" id="{BBBC5B31-5ED6-4652-94F9-B77BD5DF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Продержаться 30 игровых дней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поддерживать работу маяка</a:t>
            </a:r>
          </a:p>
        </p:txBody>
      </p:sp>
    </p:spTree>
    <p:extLst>
      <p:ext uri="{BB962C8B-B14F-4D97-AF65-F5344CB8AC3E}">
        <p14:creationId xmlns:p14="http://schemas.microsoft.com/office/powerpoint/2010/main" val="3897157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Игровой процесс">
            <a:extLst xmlns:a="http://schemas.openxmlformats.org/drawingml/2006/main">
              <a:ext uri="{FF2B5EF4-FFF2-40B4-BE49-F238E27FC236}">
                <a16:creationId xmlns:a16="http://schemas.microsoft.com/office/drawing/2014/main" id="{53CA346F-707F-4876-BE07-67E79029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Игровой процесс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75CE548F-2D32-4AB3-924F-FC97F675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2891D5CC-A071-491A-BEB3-3DC9E803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День">
            <a:extLst xmlns:a="http://schemas.openxmlformats.org/drawingml/2006/main">
              <a:ext uri="{FF2B5EF4-FFF2-40B4-BE49-F238E27FC236}">
                <a16:creationId xmlns:a16="http://schemas.microsoft.com/office/drawing/2014/main" id="{DD41517C-2CAD-4D72-8DA0-C0BB0277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764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День</a:t>
            </a:r>
          </a:p>
        </p:txBody>
      </p:sp>
      <p:sp>
        <p:nvSpPr>
          <p:cNvPr id="5" name="Сбор ресурсов, рыбалка и задания">
            <a:extLst xmlns:a="http://schemas.openxmlformats.org/drawingml/2006/main">
              <a:ext uri="{FF2B5EF4-FFF2-40B4-BE49-F238E27FC236}">
                <a16:creationId xmlns:a16="http://schemas.microsoft.com/office/drawing/2014/main" id="{A5E78441-7F45-4605-B86D-06B8FADF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9545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Сбор ресурсов, рыбалка и задания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48CFED12-9226-4063-8BB3-EEA84BA4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Вечер">
            <a:extLst xmlns:a="http://schemas.openxmlformats.org/drawingml/2006/main">
              <a:ext uri="{FF2B5EF4-FFF2-40B4-BE49-F238E27FC236}">
                <a16:creationId xmlns:a16="http://schemas.microsoft.com/office/drawing/2014/main" id="{25DE1463-AAC9-44C1-B820-9E8CFE13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003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Вечер</a:t>
            </a:r>
          </a:p>
        </p:txBody>
      </p:sp>
      <p:sp>
        <p:nvSpPr>
          <p:cNvPr id="8" name="Приготовление еды и обслуживание маяка">
            <a:extLst xmlns:a="http://schemas.openxmlformats.org/drawingml/2006/main">
              <a:ext uri="{FF2B5EF4-FFF2-40B4-BE49-F238E27FC236}">
                <a16:creationId xmlns:a16="http://schemas.microsoft.com/office/drawing/2014/main" id="{D44D90CA-B5F9-4185-BC83-148A3C61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Приготовление еды и обслуживание маяка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F50AE862-6F35-44BF-BC4A-2917637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Ночь">
            <a:extLst xmlns:a="http://schemas.openxmlformats.org/drawingml/2006/main">
              <a:ext uri="{FF2B5EF4-FFF2-40B4-BE49-F238E27FC236}">
                <a16:creationId xmlns:a16="http://schemas.microsoft.com/office/drawing/2014/main" id="{4E1F43AC-5195-44B8-B345-A46AD290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242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Ночь</a:t>
            </a:r>
          </a:p>
        </p:txBody>
      </p:sp>
      <p:sp>
        <p:nvSpPr>
          <p:cNvPr id="11" name="Укрытие, защита от существ и поиск безопасного пути">
            <a:extLst xmlns:a="http://schemas.openxmlformats.org/drawingml/2006/main">
              <a:ext uri="{FF2B5EF4-FFF2-40B4-BE49-F238E27FC236}">
                <a16:creationId xmlns:a16="http://schemas.microsoft.com/office/drawing/2014/main" id="{BF9F76F1-309A-43DE-BF83-4A103F46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433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Укрытие, защита от существ и поиск безопасного пути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83BF4362-A9E0-42BF-A6B3-CDE5E0CF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Утро">
            <a:extLst xmlns:a="http://schemas.openxmlformats.org/drawingml/2006/main">
              <a:ext uri="{FF2B5EF4-FFF2-40B4-BE49-F238E27FC236}">
                <a16:creationId xmlns:a16="http://schemas.microsoft.com/office/drawing/2014/main" id="{BD8323E3-EB25-4844-AABB-9C886FC0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4817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Утро</a:t>
            </a:r>
          </a:p>
        </p:txBody>
      </p:sp>
      <p:sp>
        <p:nvSpPr>
          <p:cNvPr id="14" name="Новые задания и улучшение своего убежища">
            <a:extLst xmlns:a="http://schemas.openxmlformats.org/drawingml/2006/main">
              <a:ext uri="{FF2B5EF4-FFF2-40B4-BE49-F238E27FC236}">
                <a16:creationId xmlns:a16="http://schemas.microsoft.com/office/drawing/2014/main" id="{1A74C3D0-1EEE-44E2-A68E-90DD5394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67225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Новые задания и улучшение своего убежища</a:t>
            </a:r>
          </a:p>
        </p:txBody>
      </p:sp>
      <p:sp>
        <p:nvSpPr>
          <p:cNvPr id="15" name="Пример задания: принести топливо с берега и включить маяк до заката.">
            <a:extLst xmlns:a="http://schemas.openxmlformats.org/drawingml/2006/main">
              <a:ext uri="{FF2B5EF4-FFF2-40B4-BE49-F238E27FC236}">
                <a16:creationId xmlns:a16="http://schemas.microsoft.com/office/drawing/2014/main" id="{B0052A49-6390-49BE-ACBA-B70BFF61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Пример задания: принести топливо с берега и включить маяк до заката.</a:t>
            </a:r>
          </a:p>
        </p:txBody>
      </p:sp>
    </p:spTree>
    <p:extLst>
      <p:ext uri="{BB962C8B-B14F-4D97-AF65-F5344CB8AC3E}">
        <p14:creationId xmlns:p14="http://schemas.microsoft.com/office/powerpoint/2010/main" val="4166634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Визуальный стиль и звук">
            <a:extLst xmlns:a="http://schemas.openxmlformats.org/drawingml/2006/main">
              <a:ext uri="{FF2B5EF4-FFF2-40B4-BE49-F238E27FC236}">
                <a16:creationId xmlns:a16="http://schemas.microsoft.com/office/drawing/2014/main" id="{5534D2D8-489D-412A-8059-0EFE48D3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Визуальный стиль и звук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14692C2C-4F4E-404F-A7AF-11F9385B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Визуальный стиль">
            <a:extLst xmlns:a="http://schemas.openxmlformats.org/drawingml/2006/main">
              <a:ext uri="{FF2B5EF4-FFF2-40B4-BE49-F238E27FC236}">
                <a16:creationId xmlns:a16="http://schemas.microsoft.com/office/drawing/2014/main" id="{9433CCC3-EA61-4DA9-AD0B-1E539519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Визуальный стиль</a:t>
            </a:r>
          </a:p>
        </p:txBody>
      </p:sp>
      <p:sp>
        <p:nvSpPr>
          <p:cNvPr id="4" name="Простые 3D-модели и изометрия.&#10;Приглушённые цвета моря и леса.&#10;Тёплый ">
            <a:extLst xmlns:a="http://schemas.openxmlformats.org/drawingml/2006/main">
              <a:ext uri="{FF2B5EF4-FFF2-40B4-BE49-F238E27FC236}">
                <a16:creationId xmlns:a16="http://schemas.microsoft.com/office/drawing/2014/main" id="{AB443DCB-B191-44DD-ACB1-6F768299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95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Простые 3D-модели и изометрия.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Приглушённые цвета моря и леса.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Тёплый свет маяка среди темноты.</a:t>
            </a:r>
          </a:p>
        </p:txBody>
      </p:sp>
      <p:sp>
        <p:nvSpPr>
          <p:cNvPr id="5" name="Звуковая атмосфера">
            <a:extLst xmlns:a="http://schemas.openxmlformats.org/drawingml/2006/main">
              <a:ext uri="{FF2B5EF4-FFF2-40B4-BE49-F238E27FC236}">
                <a16:creationId xmlns:a16="http://schemas.microsoft.com/office/drawing/2014/main" id="{524F68F8-6172-4990-93B8-8E4668C4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Звуковая атмосфера</a:t>
            </a:r>
          </a:p>
        </p:txBody>
      </p:sp>
      <p:sp>
        <p:nvSpPr>
          <p:cNvPr id="6" name="Шум волн, ветер и скрип досок.&#10;Редкая фоновая музыка.&#10;Ночью: шаги, шор">
            <a:extLst xmlns:a="http://schemas.openxmlformats.org/drawingml/2006/main">
              <a:ext uri="{FF2B5EF4-FFF2-40B4-BE49-F238E27FC236}">
                <a16:creationId xmlns:a16="http://schemas.microsoft.com/office/drawing/2014/main" id="{0F9E3687-1090-4802-9FC5-584EFCC8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0958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Шум волн, ветер и скрип досок.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Редкая фоновая музыка.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Ночью: шаги, шорохи и далёкие голоса.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ff5b26c0b403e"/>
          <a:stretch xmlns:a="http://schemas.openxmlformats.org/drawingml/2006/main"/>
        </p:blipFill>
        <p:spPr>
          <a:xfrm xmlns:a="http://schemas.openxmlformats.org/drawingml/2006/main">
            <a:off x="6306608" y="1695450"/>
            <a:ext cx="5198533" cy="2924175"/>
          </a:xfrm>
          <a:prstGeom xmlns:a="http://schemas.openxmlformats.org/drawingml/2006/main" prst="rect">
            <a:avLst/>
          </a:prstGeom>
        </p:spPr>
      </p:pic>
      <p:sp>
        <p:nvSpPr>
          <p:cNvPr id="8" name="Референс атмосферы: DREDGE">
            <a:extLst xmlns:a="http://schemas.openxmlformats.org/drawingml/2006/main">
              <a:ext uri="{FF2B5EF4-FFF2-40B4-BE49-F238E27FC236}">
                <a16:creationId xmlns:a16="http://schemas.microsoft.com/office/drawing/2014/main" id="{921CA27D-BF17-4606-BF16-997FC481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520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Референс атмосферы: DREDGE</a:t>
            </a:r>
          </a:p>
        </p:txBody>
      </p:sp>
      <p:sp>
        <p:nvSpPr>
          <p:cNvPr id="9" name="По мере развития сюжета цвет&#10;и звук будут становиться тревожнее.">
            <a:extLst xmlns:a="http://schemas.openxmlformats.org/drawingml/2006/main">
              <a:ext uri="{FF2B5EF4-FFF2-40B4-BE49-F238E27FC236}">
                <a16:creationId xmlns:a16="http://schemas.microsoft.com/office/drawing/2014/main" id="{8E655DFE-065F-46C0-978F-BB6CA840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53050"/>
            <a:ext cx="5200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По мере развития сюжета цвет</a:t>
            </a:r>
          </a:p>
          <a:p xmlns:a="http://schemas.openxmlformats.org/drawingml/2006/main">
            <a:pPr algn="l">
              <a:defRPr sz="1875" b="0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A3D"/>
                </a:solidFill>
                <a:latin typeface="Arial"/>
                <a:ea typeface="Arial"/>
                <a:cs typeface="Arial"/>
              </a:rPr>
              <a:t>и звук будут становиться тревожнее.</a:t>
            </a:r>
          </a:p>
        </p:txBody>
      </p:sp>
    </p:spTree>
    <p:extLst>
      <p:ext uri="{BB962C8B-B14F-4D97-AF65-F5344CB8AC3E}">
        <p14:creationId xmlns:p14="http://schemas.microsoft.com/office/powerpoint/2010/main" val="15857289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Игровые референсы">
            <a:extLst xmlns:a="http://schemas.openxmlformats.org/drawingml/2006/main">
              <a:ext uri="{FF2B5EF4-FFF2-40B4-BE49-F238E27FC236}">
                <a16:creationId xmlns:a16="http://schemas.microsoft.com/office/drawing/2014/main" id="{EAE4532E-78B4-44CB-B17F-801656DF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Игровые референсы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80F1E3A5-078D-49C0-850D-E3E79B66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Project Zomboid">
            <a:extLst xmlns:a="http://schemas.openxmlformats.org/drawingml/2006/main">
              <a:ext uri="{FF2B5EF4-FFF2-40B4-BE49-F238E27FC236}">
                <a16:creationId xmlns:a16="http://schemas.microsoft.com/office/drawing/2014/main" id="{7A6A6728-DCFA-4AE2-9B50-DA59A733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Project Zomboid</a:t>
            </a:r>
          </a:p>
        </p:txBody>
      </p:sp>
      <p:sp>
        <p:nvSpPr>
          <p:cNvPr id="4" name="Изометрическая камера.&#10;Сбор ресурсов и крафт.&#10;Бытовые задачи ради выжи">
            <a:extLst xmlns:a="http://schemas.openxmlformats.org/drawingml/2006/main">
              <a:ext uri="{FF2B5EF4-FFF2-40B4-BE49-F238E27FC236}">
                <a16:creationId xmlns:a16="http://schemas.microsoft.com/office/drawing/2014/main" id="{12020AB6-4B0B-4C23-B147-300E228A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Изометрическая камера.</a:t>
            </a:r>
          </a:p>
          <a:p xmlns:a="http://schemas.openxmlformats.org/drawingml/2006/main">
            <a: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Сбор ресурсов и крафт.</a:t>
            </a:r>
          </a:p>
          <a:p xmlns:a="http://schemas.openxmlformats.org/drawingml/2006/main">
            <a: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Бытовые задачи ради выживания.</a:t>
            </a:r>
          </a:p>
          <a:p xmlns:a="http://schemas.openxmlformats.org/drawingml/2006/main">
            <a:pPr algn="l">
              <a:defRPr sz="195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Укрепление убежища.</a:t>
            </a:r>
          </a:p>
        </p:txBody>
      </p:sp>
      <p:sp>
        <p:nvSpPr>
          <p:cNvPr id="5" name="Дополнительные ориентиры">
            <a:extLst xmlns:a="http://schemas.openxmlformats.org/drawingml/2006/main">
              <a:ext uri="{FF2B5EF4-FFF2-40B4-BE49-F238E27FC236}">
                <a16:creationId xmlns:a16="http://schemas.microsoft.com/office/drawing/2014/main" id="{515BF36C-96A8-4EA6-ABA6-9A5C2800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Дополнительные ориентиры</a:t>
            </a:r>
          </a:p>
        </p:txBody>
      </p:sp>
      <p:sp>
        <p:nvSpPr>
          <p:cNvPr id="6" name="Darkwood: подготовка к опасной ночи.&#10;DREDGE: море и нарастающая тревог">
            <a:extLst xmlns:a="http://schemas.openxmlformats.org/drawingml/2006/main">
              <a:ext uri="{FF2B5EF4-FFF2-40B4-BE49-F238E27FC236}">
                <a16:creationId xmlns:a16="http://schemas.microsoft.com/office/drawing/2014/main" id="{6928FC83-ADB0-4682-9243-103454F9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Darkwood: подготовка к опасной ночи.</a:t>
            </a:r>
          </a:p>
          <a:p xmlns:a="http://schemas.openxmlformats.org/drawingml/2006/main">
            <a:pPr algn="l">
              <a:defRPr sz="1800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DREDGE: море и нарастающая тревога.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d9d97a122421f"/>
          <a:stretch xmlns:a="http://schemas.openxmlformats.org/drawingml/2006/main"/>
        </p:blipFill>
        <p:spPr>
          <a:xfrm xmlns:a="http://schemas.openxmlformats.org/drawingml/2006/main">
            <a:off x="5581650" y="1834966"/>
            <a:ext cx="5924550" cy="3169017"/>
          </a:xfrm>
          <a:prstGeom xmlns:a="http://schemas.openxmlformats.org/drawingml/2006/main" prst="rect">
            <a:avLst/>
          </a:prstGeom>
        </p:spPr>
      </p:pic>
      <p:sp>
        <p:nvSpPr>
          <p:cNvPr id="8" name="Project Zomboid, The Indie Stone">
            <a:extLst xmlns:a="http://schemas.openxmlformats.org/drawingml/2006/main">
              <a:ext uri="{FF2B5EF4-FFF2-40B4-BE49-F238E27FC236}">
                <a16:creationId xmlns:a16="http://schemas.microsoft.com/office/drawing/2014/main" id="{A7797AB5-B465-43D1-B5C4-EFA4F069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57800"/>
            <a:ext cx="592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Project Zomboid, The Indie Stone</a:t>
            </a:r>
          </a:p>
        </p:txBody>
      </p:sp>
    </p:spTree>
    <p:extLst>
      <p:ext uri="{BB962C8B-B14F-4D97-AF65-F5344CB8AC3E}">
        <p14:creationId xmlns:p14="http://schemas.microsoft.com/office/powerpoint/2010/main" val="943547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Референсы по визуалу">
            <a:extLst xmlns:a="http://schemas.openxmlformats.org/drawingml/2006/main">
              <a:ext uri="{FF2B5EF4-FFF2-40B4-BE49-F238E27FC236}">
                <a16:creationId xmlns:a16="http://schemas.microsoft.com/office/drawing/2014/main" id="{04F8CE5C-4D5F-4FAA-A769-757504B8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Референсы по визуалу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A5991019-AF7D-45D7-A374-7F4CF288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ac2f25026455e"/>
          <a:stretch xmlns:a="http://schemas.openxmlformats.org/drawingml/2006/main"/>
        </p:blipFill>
        <p:spPr>
          <a:xfrm xmlns:a="http://schemas.openxmlformats.org/drawingml/2006/main">
            <a:off x="685800" y="1820694"/>
            <a:ext cx="3467100" cy="1854537"/>
          </a:xfrm>
          <a:prstGeom xmlns:a="http://schemas.openxmlformats.org/drawingml/2006/main" prst="rect">
            <a:avLst/>
          </a:prstGeom>
        </p:spPr>
      </p:pic>
      <p:sp>
        <p:nvSpPr>
          <p:cNvPr id="4" name="Project Zomboid">
            <a:extLst xmlns:a="http://schemas.openxmlformats.org/drawingml/2006/main">
              <a:ext uri="{FF2B5EF4-FFF2-40B4-BE49-F238E27FC236}">
                <a16:creationId xmlns:a16="http://schemas.microsoft.com/office/drawing/2014/main" id="{A0249390-AFED-40BF-B870-7CA586FA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46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Project Zomboid</a:t>
            </a:r>
          </a:p>
        </p:txBody>
      </p:sp>
      <p:sp>
        <p:nvSpPr>
          <p:cNvPr id="5" name="Изометрия и читаемые&#10;объёмные постройки.">
            <a:extLst xmlns:a="http://schemas.openxmlformats.org/drawingml/2006/main">
              <a:ext uri="{FF2B5EF4-FFF2-40B4-BE49-F238E27FC236}">
                <a16:creationId xmlns:a16="http://schemas.microsoft.com/office/drawing/2014/main" id="{EEBF9980-DA66-46E0-A41A-833F045D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467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Изометрия и читаемые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объёмные постройки.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84e5a58ce4caf"/>
          <a:stretch xmlns:a="http://schemas.openxmlformats.org/drawingml/2006/main"/>
        </p:blipFill>
        <p:spPr>
          <a:xfrm xmlns:a="http://schemas.openxmlformats.org/drawingml/2006/main">
            <a:off x="4362450" y="1772841"/>
            <a:ext cx="3467100" cy="1950244"/>
          </a:xfrm>
          <a:prstGeom xmlns:a="http://schemas.openxmlformats.org/drawingml/2006/main" prst="rect">
            <a:avLst/>
          </a:prstGeom>
        </p:spPr>
      </p:pic>
      <p:sp>
        <p:nvSpPr>
          <p:cNvPr id="7" name="DREDGE">
            <a:extLst xmlns:a="http://schemas.openxmlformats.org/drawingml/2006/main">
              <a:ext uri="{FF2B5EF4-FFF2-40B4-BE49-F238E27FC236}">
                <a16:creationId xmlns:a16="http://schemas.microsoft.com/office/drawing/2014/main" id="{26481C8D-5065-4740-95D9-5FEC2CB4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81450"/>
            <a:ext cx="346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DREDGE</a:t>
            </a:r>
          </a:p>
        </p:txBody>
      </p:sp>
      <p:sp>
        <p:nvSpPr>
          <p:cNvPr id="8" name="Маяк, острова и простые&#10;формы морского пейзажа.">
            <a:extLst xmlns:a="http://schemas.openxmlformats.org/drawingml/2006/main">
              <a:ext uri="{FF2B5EF4-FFF2-40B4-BE49-F238E27FC236}">
                <a16:creationId xmlns:a16="http://schemas.microsoft.com/office/drawing/2014/main" id="{2A1FD9CC-1F83-4487-A0B7-68198455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91050"/>
            <a:ext cx="3467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Маяк, острова и простые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формы морского пейзажа.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ef468ba484517"/>
          <a:stretch xmlns:a="http://schemas.openxmlformats.org/drawingml/2006/main"/>
        </p:blipFill>
        <p:spPr>
          <a:xfrm xmlns:a="http://schemas.openxmlformats.org/drawingml/2006/main">
            <a:off x="8039100" y="1772841"/>
            <a:ext cx="3467100" cy="1950244"/>
          </a:xfrm>
          <a:prstGeom xmlns:a="http://schemas.openxmlformats.org/drawingml/2006/main" prst="rect">
            <a:avLst/>
          </a:prstGeom>
        </p:spPr>
      </p:pic>
      <p:sp>
        <p:nvSpPr>
          <p:cNvPr id="10" name="Darkwood">
            <a:extLst xmlns:a="http://schemas.openxmlformats.org/drawingml/2006/main">
              <a:ext uri="{FF2B5EF4-FFF2-40B4-BE49-F238E27FC236}">
                <a16:creationId xmlns:a16="http://schemas.microsoft.com/office/drawing/2014/main" id="{EF9DE90C-F15E-4279-A4F6-7062CF54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346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Darkwood</a:t>
            </a:r>
          </a:p>
        </p:txBody>
      </p:sp>
      <p:sp>
        <p:nvSpPr>
          <p:cNvPr id="11" name="Ограниченный свет&#10;и плотная ночная тьма.">
            <a:extLst xmlns:a="http://schemas.openxmlformats.org/drawingml/2006/main">
              <a:ext uri="{FF2B5EF4-FFF2-40B4-BE49-F238E27FC236}">
                <a16:creationId xmlns:a16="http://schemas.microsoft.com/office/drawing/2014/main" id="{2320F2CE-5B79-4DE9-8D09-D57688DB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3467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Ограниченный свет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плотная ночная тьма.</a:t>
            </a:r>
          </a:p>
        </p:txBody>
      </p:sp>
      <p:sp>
        <p:nvSpPr>
          <p:cNvPr id="12" name="Наше направление: объёмная изометрия, прибрежный остров и выразительны">
            <a:extLst xmlns:a="http://schemas.openxmlformats.org/drawingml/2006/main">
              <a:ext uri="{FF2B5EF4-FFF2-40B4-BE49-F238E27FC236}">
                <a16:creationId xmlns:a16="http://schemas.microsoft.com/office/drawing/2014/main" id="{44D0DC7B-E163-4CEB-BDCB-19B7CE97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Наше направление: объёмная изометрия, прибрежный остров и выразительный свет.</a:t>
            </a:r>
          </a:p>
        </p:txBody>
      </p:sp>
    </p:spTree>
    <p:extLst>
      <p:ext uri="{BB962C8B-B14F-4D97-AF65-F5344CB8AC3E}">
        <p14:creationId xmlns:p14="http://schemas.microsoft.com/office/powerpoint/2010/main" val="15888554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Механики игры">
            <a:extLst xmlns:a="http://schemas.openxmlformats.org/drawingml/2006/main">
              <a:ext uri="{FF2B5EF4-FFF2-40B4-BE49-F238E27FC236}">
                <a16:creationId xmlns:a16="http://schemas.microsoft.com/office/drawing/2014/main" id="{E2D319F2-5FFC-4B9C-A5A3-6325D554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Механики игры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F0E0EB05-52B5-4D65-A484-92A07C47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Выживание">
            <a:extLst xmlns:a="http://schemas.openxmlformats.org/drawingml/2006/main">
              <a:ext uri="{FF2B5EF4-FFF2-40B4-BE49-F238E27FC236}">
                <a16:creationId xmlns:a16="http://schemas.microsoft.com/office/drawing/2014/main" id="{ADC13C8D-7454-48C4-B89B-44D4324C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Выживание</a:t>
            </a:r>
          </a:p>
        </p:txBody>
      </p:sp>
      <p:sp>
        <p:nvSpPr>
          <p:cNvPr id="4" name="Здоровье, голод и усталость.&#10;Запасы нужно пополнять каждый день.">
            <a:extLst xmlns:a="http://schemas.openxmlformats.org/drawingml/2006/main">
              <a:ext uri="{FF2B5EF4-FFF2-40B4-BE49-F238E27FC236}">
                <a16:creationId xmlns:a16="http://schemas.microsoft.com/office/drawing/2014/main" id="{E1EE9A59-3992-43B2-9B57-C5342B11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Здоровье, голод и усталость.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Запасы нужно пополнять каждый день.</a:t>
            </a:r>
          </a:p>
        </p:txBody>
      </p:sp>
      <p:sp>
        <p:nvSpPr>
          <p:cNvPr id="5" name="Добыча и рыбалка">
            <a:extLst xmlns:a="http://schemas.openxmlformats.org/drawingml/2006/main">
              <a:ext uri="{FF2B5EF4-FFF2-40B4-BE49-F238E27FC236}">
                <a16:creationId xmlns:a16="http://schemas.microsoft.com/office/drawing/2014/main" id="{60774833-466F-4221-B959-E46CA916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Добыча и рыбалка</a:t>
            </a:r>
          </a:p>
        </p:txBody>
      </p:sp>
      <p:sp>
        <p:nvSpPr>
          <p:cNvPr id="6" name="Древесина и материалы в лесу.&#10;Рыба и находки у берега.">
            <a:extLst xmlns:a="http://schemas.openxmlformats.org/drawingml/2006/main">
              <a:ext uri="{FF2B5EF4-FFF2-40B4-BE49-F238E27FC236}">
                <a16:creationId xmlns:a16="http://schemas.microsoft.com/office/drawing/2014/main" id="{6A65C0F9-0169-45CA-8E0E-848218D7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Древесина и материалы в лесу.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Рыба и находки у берега.</a:t>
            </a:r>
          </a:p>
        </p:txBody>
      </p:sp>
      <p:sp>
        <p:nvSpPr>
          <p:cNvPr id="7" name="Крафт и приготовление еды">
            <a:extLst xmlns:a="http://schemas.openxmlformats.org/drawingml/2006/main">
              <a:ext uri="{FF2B5EF4-FFF2-40B4-BE49-F238E27FC236}">
                <a16:creationId xmlns:a16="http://schemas.microsoft.com/office/drawing/2014/main" id="{6CC0B790-D901-47FA-90A4-56653A1E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Крафт и приготовление еды</a:t>
            </a:r>
          </a:p>
        </p:txBody>
      </p:sp>
      <p:sp>
        <p:nvSpPr>
          <p:cNvPr id="8" name="Создание инструментов и предметов.&#10;Готовка из собранных ресурсов.">
            <a:extLst xmlns:a="http://schemas.openxmlformats.org/drawingml/2006/main">
              <a:ext uri="{FF2B5EF4-FFF2-40B4-BE49-F238E27FC236}">
                <a16:creationId xmlns:a16="http://schemas.microsoft.com/office/drawing/2014/main" id="{015FA90A-6ECD-47C8-80F3-3995760B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Создание инструментов и предметов.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Готовка из собранных ресурсов.</a:t>
            </a:r>
          </a:p>
        </p:txBody>
      </p:sp>
      <p:sp>
        <p:nvSpPr>
          <p:cNvPr id="9" name="Строительство">
            <a:extLst xmlns:a="http://schemas.openxmlformats.org/drawingml/2006/main">
              <a:ext uri="{FF2B5EF4-FFF2-40B4-BE49-F238E27FC236}">
                <a16:creationId xmlns:a16="http://schemas.microsoft.com/office/drawing/2014/main" id="{90402565-AA35-42E5-9DD1-E59079BB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Строительство</a:t>
            </a:r>
          </a:p>
        </p:txBody>
      </p:sp>
      <p:sp>
        <p:nvSpPr>
          <p:cNvPr id="10" name="Улучшение хижины, баррикады&#10;и места для хранения запасов.">
            <a:extLst xmlns:a="http://schemas.openxmlformats.org/drawingml/2006/main">
              <a:ext uri="{FF2B5EF4-FFF2-40B4-BE49-F238E27FC236}">
                <a16:creationId xmlns:a16="http://schemas.microsoft.com/office/drawing/2014/main" id="{BC8641B8-3097-4998-A4CF-7D75EBEF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Улучшение хижины, баррикады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места для хранения запасов.</a:t>
            </a:r>
          </a:p>
        </p:txBody>
      </p:sp>
      <p:sp>
        <p:nvSpPr>
          <p:cNvPr id="11" name="Задания">
            <a:extLst xmlns:a="http://schemas.openxmlformats.org/drawingml/2006/main">
              <a:ext uri="{FF2B5EF4-FFF2-40B4-BE49-F238E27FC236}">
                <a16:creationId xmlns:a16="http://schemas.microsoft.com/office/drawing/2014/main" id="{C68096DB-9997-4F86-883F-EFE62E0D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Задания</a:t>
            </a:r>
          </a:p>
        </p:txBody>
      </p:sp>
      <p:sp>
        <p:nvSpPr>
          <p:cNvPr id="12" name="Доставка предметов, поиск ресурсов&#10;и поддержание света маяка.">
            <a:extLst xmlns:a="http://schemas.openxmlformats.org/drawingml/2006/main">
              <a:ext uri="{FF2B5EF4-FFF2-40B4-BE49-F238E27FC236}">
                <a16:creationId xmlns:a16="http://schemas.microsoft.com/office/drawing/2014/main" id="{1975132A-67A8-44B7-A737-84006BDA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Доставка предметов, поиск ресурсов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поддержание света маяка.</a:t>
            </a:r>
          </a:p>
        </p:txBody>
      </p:sp>
      <p:sp>
        <p:nvSpPr>
          <p:cNvPr id="13" name="Рост угрозы">
            <a:extLst xmlns:a="http://schemas.openxmlformats.org/drawingml/2006/main">
              <a:ext uri="{FF2B5EF4-FFF2-40B4-BE49-F238E27FC236}">
                <a16:creationId xmlns:a16="http://schemas.microsoft.com/office/drawing/2014/main" id="{761EF075-5632-4011-84F6-B998E521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Рост угрозы</a:t>
            </a:r>
          </a:p>
        </p:txBody>
      </p:sp>
      <p:sp>
        <p:nvSpPr>
          <p:cNvPr id="14" name="Ночью появляются новые существа.&#10;Со временем выживать становится сложн">
            <a:extLst xmlns:a="http://schemas.openxmlformats.org/drawingml/2006/main">
              <a:ext uri="{FF2B5EF4-FFF2-40B4-BE49-F238E27FC236}">
                <a16:creationId xmlns:a16="http://schemas.microsoft.com/office/drawing/2014/main" id="{FC31812F-ED15-4DCF-A61E-99A4692D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Ночью появляются новые существа.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Со временем выживать становится сложнее.</a:t>
            </a:r>
          </a:p>
        </p:txBody>
      </p:sp>
    </p:spTree>
    <p:extLst>
      <p:ext uri="{BB962C8B-B14F-4D97-AF65-F5344CB8AC3E}">
        <p14:creationId xmlns:p14="http://schemas.microsoft.com/office/powerpoint/2010/main" val="9479418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Остров и локации">
            <a:extLst xmlns:a="http://schemas.openxmlformats.org/drawingml/2006/main">
              <a:ext uri="{FF2B5EF4-FFF2-40B4-BE49-F238E27FC236}">
                <a16:creationId xmlns:a16="http://schemas.microsoft.com/office/drawing/2014/main" id="{5D57E356-1B9C-48DF-B053-E28C05AF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Остров и локации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1AEB9461-DBD7-4EF3-B7D4-0C37DB36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4290eeb1e4cb8"/>
          <a:stretch xmlns:a="http://schemas.openxmlformats.org/drawingml/2006/main"/>
        </p:blipFill>
        <p:spPr>
          <a:xfrm xmlns:a="http://schemas.openxmlformats.org/drawingml/2006/main">
            <a:off x="1042988" y="1609725"/>
            <a:ext cx="6057900" cy="4543425"/>
          </a:xfrm>
          <a:prstGeom xmlns:a="http://schemas.openxmlformats.org/drawingml/2006/main" prst="rect">
            <a:avLst/>
          </a:prstGeom>
        </p:spPr>
      </p:pic>
      <p:sp>
        <p:nvSpPr>
          <p:cNvPr id="4" name="Иллюстрация концепции">
            <a:extLst xmlns:a="http://schemas.openxmlformats.org/drawingml/2006/main">
              <a:ext uri="{FF2B5EF4-FFF2-40B4-BE49-F238E27FC236}">
                <a16:creationId xmlns:a16="http://schemas.microsoft.com/office/drawing/2014/main" id="{B86E7625-A777-49AB-884B-7DBBDEA9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6772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Иллюстрация концепции</a:t>
            </a:r>
          </a:p>
        </p:txBody>
      </p:sp>
      <p:sp>
        <p:nvSpPr>
          <p:cNvPr id="5" name="Маяк">
            <a:extLst xmlns:a="http://schemas.openxmlformats.org/drawingml/2006/main">
              <a:ext uri="{FF2B5EF4-FFF2-40B4-BE49-F238E27FC236}">
                <a16:creationId xmlns:a16="http://schemas.microsoft.com/office/drawing/2014/main" id="{BD433652-C6EB-4692-A24B-634389A3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Маяк</a:t>
            </a:r>
          </a:p>
        </p:txBody>
      </p:sp>
      <p:sp>
        <p:nvSpPr>
          <p:cNvPr id="6" name="Обслуживание света&#10;и основные задания.">
            <a:extLst xmlns:a="http://schemas.openxmlformats.org/drawingml/2006/main">
              <a:ext uri="{FF2B5EF4-FFF2-40B4-BE49-F238E27FC236}">
                <a16:creationId xmlns:a16="http://schemas.microsoft.com/office/drawing/2014/main" id="{00ECD6A5-398E-4C8B-AE65-4EB6CDA6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Обслуживание света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основные задания.</a:t>
            </a:r>
          </a:p>
        </p:txBody>
      </p:sp>
      <p:sp>
        <p:nvSpPr>
          <p:cNvPr id="7" name="Хижина">
            <a:extLst xmlns:a="http://schemas.openxmlformats.org/drawingml/2006/main">
              <a:ext uri="{FF2B5EF4-FFF2-40B4-BE49-F238E27FC236}">
                <a16:creationId xmlns:a16="http://schemas.microsoft.com/office/drawing/2014/main" id="{3CDF0071-0E76-46CA-A457-D08D1B2D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194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Хижина</a:t>
            </a:r>
          </a:p>
        </p:txBody>
      </p:sp>
      <p:sp>
        <p:nvSpPr>
          <p:cNvPr id="8" name="Сон, готовка и хранение&#10;ресурсов.">
            <a:extLst xmlns:a="http://schemas.openxmlformats.org/drawingml/2006/main">
              <a:ext uri="{FF2B5EF4-FFF2-40B4-BE49-F238E27FC236}">
                <a16:creationId xmlns:a16="http://schemas.microsoft.com/office/drawing/2014/main" id="{F6214D87-CF01-4248-AC8A-6DB50F58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766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Сон, готовка и хранение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ресурсов.</a:t>
            </a:r>
          </a:p>
        </p:txBody>
      </p:sp>
      <p:sp>
        <p:nvSpPr>
          <p:cNvPr id="9" name="Лес">
            <a:extLst xmlns:a="http://schemas.openxmlformats.org/drawingml/2006/main">
              <a:ext uri="{FF2B5EF4-FFF2-40B4-BE49-F238E27FC236}">
                <a16:creationId xmlns:a16="http://schemas.microsoft.com/office/drawing/2014/main" id="{14463DDF-02C2-41A0-BC6D-5A639B64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624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Лес</a:t>
            </a:r>
          </a:p>
        </p:txBody>
      </p:sp>
      <p:sp>
        <p:nvSpPr>
          <p:cNvPr id="10" name="Древесина, материалы&#10;и скрытые подсказки.">
            <a:extLst xmlns:a="http://schemas.openxmlformats.org/drawingml/2006/main">
              <a:ext uri="{FF2B5EF4-FFF2-40B4-BE49-F238E27FC236}">
                <a16:creationId xmlns:a16="http://schemas.microsoft.com/office/drawing/2014/main" id="{BFD4FD32-B2D3-4BE3-A880-E61E7E06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196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Древесина, материалы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скрытые подсказки.</a:t>
            </a:r>
          </a:p>
        </p:txBody>
      </p:sp>
      <p:sp>
        <p:nvSpPr>
          <p:cNvPr id="11" name="Берег">
            <a:extLst xmlns:a="http://schemas.openxmlformats.org/drawingml/2006/main">
              <a:ext uri="{FF2B5EF4-FFF2-40B4-BE49-F238E27FC236}">
                <a16:creationId xmlns:a16="http://schemas.microsoft.com/office/drawing/2014/main" id="{219411DF-B3AB-40E8-AB99-D41406A2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054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Берег</a:t>
            </a:r>
          </a:p>
        </p:txBody>
      </p:sp>
      <p:sp>
        <p:nvSpPr>
          <p:cNvPr id="12" name="Рыбалка и предметы,&#10;выброшенные морем.">
            <a:extLst xmlns:a="http://schemas.openxmlformats.org/drawingml/2006/main">
              <a:ext uri="{FF2B5EF4-FFF2-40B4-BE49-F238E27FC236}">
                <a16:creationId xmlns:a16="http://schemas.microsoft.com/office/drawing/2014/main" id="{18745FB2-4A1E-49A3-94D8-2F7ABEE8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626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Рыбалка и предметы,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выброшенные морем.</a:t>
            </a:r>
          </a:p>
        </p:txBody>
      </p:sp>
    </p:spTree>
    <p:extLst>
      <p:ext uri="{BB962C8B-B14F-4D97-AF65-F5344CB8AC3E}">
        <p14:creationId xmlns:p14="http://schemas.microsoft.com/office/powerpoint/2010/main" val="5253706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сихологический хоррор">
            <a:extLst xmlns:a="http://schemas.openxmlformats.org/drawingml/2006/main">
              <a:ext uri="{FF2B5EF4-FFF2-40B4-BE49-F238E27FC236}">
                <a16:creationId xmlns:a16="http://schemas.microsoft.com/office/drawing/2014/main" id="{E3B113F4-E074-495E-A5B8-400591A5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Психологический хоррор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BB2D8BE3-D451-4200-8FF0-CFD7E464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6C4B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6C4B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Возможный сюжет: монстры существуют&#10;только в восприятии смотрителя.">
            <a:extLst xmlns:a="http://schemas.openxmlformats.org/drawingml/2006/main">
              <a:ext uri="{FF2B5EF4-FFF2-40B4-BE49-F238E27FC236}">
                <a16:creationId xmlns:a16="http://schemas.microsoft.com/office/drawing/2014/main" id="{6AA55F4D-941E-4BFA-9AB4-53F0A981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Возможный сюжет: монстры существуют</a:t>
            </a:r>
          </a:p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только в восприятии смотрителя.</a:t>
            </a:r>
          </a:p>
        </p:txBody>
      </p:sp>
      <p:sp>
        <p:nvSpPr>
          <p:cNvPr id="4" name="Одиночество и рутина">
            <a:extLst xmlns:a="http://schemas.openxmlformats.org/drawingml/2006/main">
              <a:ext uri="{FF2B5EF4-FFF2-40B4-BE49-F238E27FC236}">
                <a16:creationId xmlns:a16="http://schemas.microsoft.com/office/drawing/2014/main" id="{4295C367-3F23-43DE-ABA4-C670A8EF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Одиночество и рутина</a:t>
            </a:r>
          </a:p>
        </p:txBody>
      </p:sp>
      <p:sp>
        <p:nvSpPr>
          <p:cNvPr id="5" name="Повторяющиеся обязанности и недосып усиливают тревогу.">
            <a:extLst xmlns:a="http://schemas.openxmlformats.org/drawingml/2006/main">
              <a:ext uri="{FF2B5EF4-FFF2-40B4-BE49-F238E27FC236}">
                <a16:creationId xmlns:a16="http://schemas.microsoft.com/office/drawing/2014/main" id="{25DC7F3C-784B-4399-9287-778A13A6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718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Повторяющиеся обязанности и недосып усиливают тревогу.</a:t>
            </a:r>
          </a:p>
        </p:txBody>
      </p:sp>
      <p:sp>
        <p:nvSpPr>
          <p:cNvPr id="6" name="Изменение мира">
            <a:extLst xmlns:a="http://schemas.openxmlformats.org/drawingml/2006/main">
              <a:ext uri="{FF2B5EF4-FFF2-40B4-BE49-F238E27FC236}">
                <a16:creationId xmlns:a16="http://schemas.microsoft.com/office/drawing/2014/main" id="{D0615D64-96B8-4C81-B6C3-2B3FB087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Изменение мира</a:t>
            </a:r>
          </a:p>
        </p:txBody>
      </p:sp>
      <p:sp>
        <p:nvSpPr>
          <p:cNvPr id="7" name="Палитра холодеет, тени и звуки начинают искажаться.">
            <a:extLst xmlns:a="http://schemas.openxmlformats.org/drawingml/2006/main">
              <a:ext uri="{FF2B5EF4-FFF2-40B4-BE49-F238E27FC236}">
                <a16:creationId xmlns:a16="http://schemas.microsoft.com/office/drawing/2014/main" id="{79621FDF-40F6-4205-B23C-4B1A5E74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00475"/>
            <a:ext cx="718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Палитра холодеет, тени и звуки начинают искажаться.</a:t>
            </a:r>
          </a:p>
        </p:txBody>
      </p:sp>
      <p:sp>
        <p:nvSpPr>
          <p:cNvPr id="8" name="Нарастающая опасность">
            <a:extLst xmlns:a="http://schemas.openxmlformats.org/drawingml/2006/main">
              <a:ext uri="{FF2B5EF4-FFF2-40B4-BE49-F238E27FC236}">
                <a16:creationId xmlns:a16="http://schemas.microsoft.com/office/drawing/2014/main" id="{79BA6F8E-0D5D-4138-BB1C-4A568BDA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Нарастающая опасность</a:t>
            </a:r>
          </a:p>
        </p:txBody>
      </p:sp>
      <p:sp>
        <p:nvSpPr>
          <p:cNvPr id="9" name="Сначала существа наблюдают, позже мешают и преследуют.">
            <a:extLst xmlns:a="http://schemas.openxmlformats.org/drawingml/2006/main">
              <a:ext uri="{FF2B5EF4-FFF2-40B4-BE49-F238E27FC236}">
                <a16:creationId xmlns:a16="http://schemas.microsoft.com/office/drawing/2014/main" id="{834C27F0-C688-4845-B73A-B630AB9F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718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Сначала существа наблюдают, позже мешают и преследуют.</a:t>
            </a:r>
          </a:p>
        </p:txBody>
      </p:sp>
      <p:sp>
        <p:nvSpPr>
          <p:cNvPr id="10" name="Подсказки на карте">
            <a:extLst xmlns:a="http://schemas.openxmlformats.org/drawingml/2006/main">
              <a:ext uri="{FF2B5EF4-FFF2-40B4-BE49-F238E27FC236}">
                <a16:creationId xmlns:a16="http://schemas.microsoft.com/office/drawing/2014/main" id="{7C401553-222F-410C-A6F8-03CCA1FE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0BE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0BE81"/>
                </a:solidFill>
                <a:latin typeface="Arial"/>
                <a:ea typeface="Arial"/>
                <a:cs typeface="Arial"/>
              </a:rPr>
              <a:t>Подсказки на карте</a:t>
            </a:r>
          </a:p>
        </p:txBody>
      </p:sp>
      <p:sp>
        <p:nvSpPr>
          <p:cNvPr id="11" name="Записки, странные таблички и противоречия в журнале смен.">
            <a:extLst xmlns:a="http://schemas.openxmlformats.org/drawingml/2006/main">
              <a:ext uri="{FF2B5EF4-FFF2-40B4-BE49-F238E27FC236}">
                <a16:creationId xmlns:a16="http://schemas.microsoft.com/office/drawing/2014/main" id="{EB29D228-E532-4ECB-9A40-18F4E76F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05425"/>
            <a:ext cx="718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4EAE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EAE5"/>
                </a:solidFill>
                <a:latin typeface="Arial"/>
                <a:ea typeface="Arial"/>
                <a:cs typeface="Arial"/>
              </a:rPr>
              <a:t>Записки, странные таблички и противоречия в журнале смен.</a:t>
            </a:r>
          </a:p>
        </p:txBody>
      </p:sp>
    </p:spTree>
    <p:extLst>
      <p:ext uri="{BB962C8B-B14F-4D97-AF65-F5344CB8AC3E}">
        <p14:creationId xmlns:p14="http://schemas.microsoft.com/office/powerpoint/2010/main" val="8619192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ервый прототип">
            <a:extLst xmlns:a="http://schemas.openxmlformats.org/drawingml/2006/main">
              <a:ext uri="{FF2B5EF4-FFF2-40B4-BE49-F238E27FC236}">
                <a16:creationId xmlns:a16="http://schemas.microsoft.com/office/drawing/2014/main" id="{81C72D42-B904-4DD3-B6B7-8594F30B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Первый прототип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0AC5519D-86F2-402E-9F24-1A2723DD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Один игровой день на небольшом острове">
            <a:extLst xmlns:a="http://schemas.openxmlformats.org/drawingml/2006/main">
              <a:ext uri="{FF2B5EF4-FFF2-40B4-BE49-F238E27FC236}">
                <a16:creationId xmlns:a16="http://schemas.microsoft.com/office/drawing/2014/main" id="{D0D2E90B-0976-4E82-9477-C836424C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AC793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C7939"/>
                </a:solidFill>
                <a:latin typeface="Arial"/>
                <a:ea typeface="Arial"/>
                <a:cs typeface="Arial"/>
              </a:rPr>
              <a:t>Один игровой день на небольшом острове</a:t>
            </a:r>
          </a:p>
        </p:txBody>
      </p:sp>
      <p:sp>
        <p:nvSpPr>
          <p:cNvPr id="4" name="Мир и управление">
            <a:extLst xmlns:a="http://schemas.openxmlformats.org/drawingml/2006/main">
              <a:ext uri="{FF2B5EF4-FFF2-40B4-BE49-F238E27FC236}">
                <a16:creationId xmlns:a16="http://schemas.microsoft.com/office/drawing/2014/main" id="{985202FD-32B4-4875-AAA3-52CA8604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Мир и управление</a:t>
            </a:r>
          </a:p>
        </p:txBody>
      </p:sp>
      <p:sp>
        <p:nvSpPr>
          <p:cNvPr id="5" name="Персонаж, изометрическая камера&#10;и четыре основные локации.">
            <a:extLst xmlns:a="http://schemas.openxmlformats.org/drawingml/2006/main">
              <a:ext uri="{FF2B5EF4-FFF2-40B4-BE49-F238E27FC236}">
                <a16:creationId xmlns:a16="http://schemas.microsoft.com/office/drawing/2014/main" id="{45BBAF06-7203-46A8-90D6-C87F3126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Персонаж, изометрическая камера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четыре основные локации.</a:t>
            </a:r>
          </a:p>
        </p:txBody>
      </p:sp>
      <p:sp>
        <p:nvSpPr>
          <p:cNvPr id="6" name="Взаимодействие">
            <a:extLst xmlns:a="http://schemas.openxmlformats.org/drawingml/2006/main">
              <a:ext uri="{FF2B5EF4-FFF2-40B4-BE49-F238E27FC236}">
                <a16:creationId xmlns:a16="http://schemas.microsoft.com/office/drawing/2014/main" id="{A1E3EE29-9332-41A2-813F-27DB91F0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Взаимодействие</a:t>
            </a:r>
          </a:p>
        </p:txBody>
      </p:sp>
      <p:sp>
        <p:nvSpPr>
          <p:cNvPr id="7" name="Подбор ресурсов, простой инвентарь&#10;и одно задание по обслуживанию маяк">
            <a:extLst xmlns:a="http://schemas.openxmlformats.org/drawingml/2006/main">
              <a:ext uri="{FF2B5EF4-FFF2-40B4-BE49-F238E27FC236}">
                <a16:creationId xmlns:a16="http://schemas.microsoft.com/office/drawing/2014/main" id="{1F79CB96-172F-4AB8-968A-36BE1186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Подбор ресурсов, простой инвентарь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и одно задание по обслуживанию маяка.</a:t>
            </a:r>
          </a:p>
        </p:txBody>
      </p:sp>
      <p:sp>
        <p:nvSpPr>
          <p:cNvPr id="8" name="Игровой цикл">
            <a:extLst xmlns:a="http://schemas.openxmlformats.org/drawingml/2006/main">
              <a:ext uri="{FF2B5EF4-FFF2-40B4-BE49-F238E27FC236}">
                <a16:creationId xmlns:a16="http://schemas.microsoft.com/office/drawing/2014/main" id="{0C5F6B59-86E1-4452-8FEF-168D1429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Игровой цикл</a:t>
            </a:r>
          </a:p>
        </p:txBody>
      </p:sp>
      <p:sp>
        <p:nvSpPr>
          <p:cNvPr id="9" name="Смена дня и ночи.&#10;Одно событие с ночным существом.">
            <a:extLst xmlns:a="http://schemas.openxmlformats.org/drawingml/2006/main">
              <a:ext uri="{FF2B5EF4-FFF2-40B4-BE49-F238E27FC236}">
                <a16:creationId xmlns:a16="http://schemas.microsoft.com/office/drawing/2014/main" id="{82A15C0D-3F6F-4539-BD6D-12024E6D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Смена дня и ночи.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Одно событие с ночным существом.</a:t>
            </a:r>
          </a:p>
        </p:txBody>
      </p:sp>
      <p:sp>
        <p:nvSpPr>
          <p:cNvPr id="10" name="Что проверим">
            <a:extLst xmlns:a="http://schemas.openxmlformats.org/drawingml/2006/main">
              <a:ext uri="{FF2B5EF4-FFF2-40B4-BE49-F238E27FC236}">
                <a16:creationId xmlns:a16="http://schemas.microsoft.com/office/drawing/2014/main" id="{2F70F136-666D-47BD-889A-8B79175B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00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A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A3D"/>
                </a:solidFill>
                <a:latin typeface="Arial"/>
                <a:ea typeface="Arial"/>
                <a:cs typeface="Arial"/>
              </a:rPr>
              <a:t>Что проверим</a:t>
            </a:r>
          </a:p>
        </p:txBody>
      </p:sp>
      <p:sp>
        <p:nvSpPr>
          <p:cNvPr id="11" name="Понятны ли цели игроку и хватает ли&#10;времени подготовиться к ночи.">
            <a:extLst xmlns:a="http://schemas.openxmlformats.org/drawingml/2006/main">
              <a:ext uri="{FF2B5EF4-FFF2-40B4-BE49-F238E27FC236}">
                <a16:creationId xmlns:a16="http://schemas.microsoft.com/office/drawing/2014/main" id="{58CFE2B4-AB7A-48FA-9A53-4FD9E268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672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Понятны ли цели игроку и хватает ли</a:t>
            </a:r>
          </a:p>
          <a:p xmlns:a="http://schemas.openxmlformats.org/drawingml/2006/main">
            <a:pPr algn="l">
              <a:defRPr sz="1875" b="0">
                <a:solidFill>
                  <a:srgbClr val="334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494A"/>
                </a:solidFill>
                <a:latin typeface="Arial"/>
                <a:ea typeface="Arial"/>
                <a:cs typeface="Arial"/>
              </a:rPr>
              <a:t>времени подготовиться к ночи.</a:t>
            </a:r>
          </a:p>
        </p:txBody>
      </p:sp>
    </p:spTree>
    <p:extLst>
      <p:ext uri="{BB962C8B-B14F-4D97-AF65-F5344CB8AC3E}">
        <p14:creationId xmlns:p14="http://schemas.microsoft.com/office/powerpoint/2010/main" val="53534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2026-09-27T23:23:19.1380000Z</dcterms:created>
  <dcterms:modified xsi:type="dcterms:W3CDTF">2026-09-27T23:23:19.1380000Z</dcterms:modified>
</coreProperties>
</file>