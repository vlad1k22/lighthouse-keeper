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dded/theme/theme1.xml" ContentType="application/vnd.openxmlformats-officedocument.theme+xml"/>
  <Override PartName="/ppt/added/slideMasters/slideMaster1.xml" ContentType="application/vnd.openxmlformats-officedocument.presentationml.slideMaster+xml"/>
  <Override PartName="/ppt/added/slideMasters/theme/theme2.xml" ContentType="application/vnd.openxmlformats-officedocument.theme+xml"/>
  <Override PartName="/ppt/added/slideLayouts/slideLayout1.xml" ContentType="application/vnd.openxmlformats-officedocument.presentationml.slideLayout+xml"/>
  <Override PartName="/ppt/added/slideLayouts/slideLayout2.xml" ContentType="application/vnd.openxmlformats-officedocument.presentationml.slideLayout+xml"/>
  <Override PartName="/ppt/added/slideLayouts/slideLayout3.xml" ContentType="application/vnd.openxmlformats-officedocument.presentationml.slideLayout+xml"/>
  <Override PartName="/ppt/added/slideLayouts/slideLayout4.xml" ContentType="application/vnd.openxmlformats-officedocument.presentationml.slideLayout+xml"/>
  <Override PartName="/ppt/added/slideLayouts/slideLayout5.xml" ContentType="application/vnd.openxmlformats-officedocument.presentationml.slideLayout+xml"/>
  <Override PartName="/ppt/added/slideLayouts/slideLayout6.xml" ContentType="application/vnd.openxmlformats-officedocument.presentationml.slideLayout+xml"/>
  <Override PartName="/ppt/added/tableStyles.xml" ContentType="application/vnd.openxmlformats-officedocument.presentationml.tableStyles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Added8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Added1"/>
    <p:sldId id="268" r:id="rIdAdded2"/>
    <p:sldId id="269" r:id="rIdAdded3"/>
    <p:sldId id="270" r:id="rIdAdded4"/>
    <p:sldId id="271" r:id="rIdAdded5"/>
    <p:sldId id="272" r:id="rIdAdded6"/>
    <p:sldId id="273" r:id="rIdAdde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Added1" Type="http://schemas.openxmlformats.org/officeDocument/2006/relationships/slide" Target="slides/slide12.xml"/><Relationship Id="rIdAdded2" Type="http://schemas.openxmlformats.org/officeDocument/2006/relationships/slide" Target="slides/slide13.xml"/><Relationship Id="rIdAdded3" Type="http://schemas.openxmlformats.org/officeDocument/2006/relationships/slide" Target="slides/slide14.xml"/><Relationship Id="rIdAdded4" Type="http://schemas.openxmlformats.org/officeDocument/2006/relationships/slide" Target="slides/slide15.xml"/><Relationship Id="rIdAdded5" Type="http://schemas.openxmlformats.org/officeDocument/2006/relationships/slide" Target="slides/slide16.xml"/><Relationship Id="rIdAdded6" Type="http://schemas.openxmlformats.org/officeDocument/2006/relationships/slide" Target="slides/slide17.xml"/><Relationship Id="rIdAdded7" Type="http://schemas.openxmlformats.org/officeDocument/2006/relationships/slide" Target="slides/slide18.xml"/><Relationship Id="rIdAdded8" Type="http://schemas.openxmlformats.org/officeDocument/2006/relationships/slideMaster" Target="added/slideMasters/slideMaster1.xml"/></Relationships>
</file>

<file path=ppt/added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cdf9a0ab902a4932"/></Relationships>
</file>

<file path=ppt/added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9ebe5b9fd430425d"/></Relationships>
</file>

<file path=ppt/added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6db4e369a38041cb"/></Relationships>
</file>

<file path=ppt/added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e9b54c5972b94673"/></Relationships>
</file>

<file path=ppt/added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d828c520bec649a6"/></Relationships>
</file>

<file path=ppt/added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eee1d55a7f0846e0"/></Relationships>
</file>

<file path=ppt/added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D4B8A6-5686-4410-84C8-F6AE853B0B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1FA673E-5634-4938-A760-14E3D60078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added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2B91A9F-79EB-44B1-9CBF-F8AF230708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added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42B499-BEF6-4713-AF64-81189ACDC3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85755C-B64A-47B7-BB27-53124EAE1F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added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CCAE46-0847-48FC-8B7C-A38E2A5974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90471B-AD5A-4F60-A789-7E8ABC1033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CD2CCE-8DAC-4585-AF8E-6AF5EA7CC7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added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9142BC-F712-4C4E-BC36-9B2A41972E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DE9EEE-0A38-48AD-B23A-C57B66BF5C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added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added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7ae55c5d74eb44df"/><Relationship Type="http://schemas.openxmlformats.org/officeDocument/2006/relationships/slideLayout" Target="../slideLayouts/slideLayout1.xml" Id="R93e8f0b7f5704ea9"/><Relationship Type="http://schemas.openxmlformats.org/officeDocument/2006/relationships/slideLayout" Target="../slideLayouts/slideLayout2.xml" Id="R091905c3327f4725"/><Relationship Type="http://schemas.openxmlformats.org/officeDocument/2006/relationships/slideLayout" Target="../slideLayouts/slideLayout3.xml" Id="R8159d3f7244244ff"/><Relationship Type="http://schemas.openxmlformats.org/officeDocument/2006/relationships/slideLayout" Target="../slideLayouts/slideLayout4.xml" Id="R0e34eb08d70f40bb"/><Relationship Type="http://schemas.openxmlformats.org/officeDocument/2006/relationships/slideLayout" Target="../slideLayouts/slideLayout5.xml" Id="R671b607b607c4da5"/><Relationship Type="http://schemas.openxmlformats.org/officeDocument/2006/relationships/slideLayout" Target="../slideLayouts/slideLayout6.xml" Id="R168bc30f8f20486c"/></Relationships>
</file>

<file path=ppt/added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e8f0b7f5704ea9"/>
    <p:sldLayoutId xmlns:r="http://schemas.openxmlformats.org/officeDocument/2006/relationships" id="2147483650" r:id="R091905c3327f4725"/>
    <p:sldLayoutId xmlns:r="http://schemas.openxmlformats.org/officeDocument/2006/relationships" id="2147483651" r:id="R8159d3f7244244ff"/>
    <p:sldLayoutId xmlns:r="http://schemas.openxmlformats.org/officeDocument/2006/relationships" id="2147483652" r:id="R0e34eb08d70f40bb"/>
    <p:sldLayoutId xmlns:r="http://schemas.openxmlformats.org/officeDocument/2006/relationships" id="2147483653" r:id="R671b607b607c4da5"/>
    <p:sldLayoutId xmlns:r="http://schemas.openxmlformats.org/officeDocument/2006/relationships" id="2147483654" r:id="R168bc30f8f2048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added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added/tableStyles.xml><?xml version="1.0" encoding="utf-8"?>
<a:tblStyleLst xmlns:a="http://schemas.openxmlformats.org/drawingml/2006/main" def="{5C22544A-7EE6-4342-B048-85BDC9FD1C3A}"/>
</file>

<file path=ppt/added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../slides/slide12.xml" Id="Raa3eb3d1dd3d4475"/><Relationship Type="http://schemas.openxmlformats.org/officeDocument/2006/relationships/notesMaster" Target="../notesMasters/notesMaster1.xml" Id="R834e7b83aaf54e42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../slides/slide13.xml" Id="Ra6a2d7e3202e4ded"/><Relationship Type="http://schemas.openxmlformats.org/officeDocument/2006/relationships/notesMaster" Target="../notesMasters/notesMaster1.xml" Id="Re38921cb77734c05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../slides/slide14.xml" Id="R86c28933c0da41fd"/><Relationship Type="http://schemas.openxmlformats.org/officeDocument/2006/relationships/notesMaster" Target="../notesMasters/notesMaster1.xml" Id="R10eb98cfe5134e36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../slides/slide15.xml" Id="Re154209b5bea40c6"/><Relationship Type="http://schemas.openxmlformats.org/officeDocument/2006/relationships/notesMaster" Target="../notesMasters/notesMaster1.xml" Id="Rc343a19edbd8465b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../slides/slide16.xml" Id="R0c3fa04cbe3d4ec7"/><Relationship Type="http://schemas.openxmlformats.org/officeDocument/2006/relationships/notesMaster" Target="../notesMasters/notesMaster1.xml" Id="R1ae4fd50a5824493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../slides/slide17.xml" Id="R8596df6022a541e9"/><Relationship Type="http://schemas.openxmlformats.org/officeDocument/2006/relationships/notesMaster" Target="../notesMasters/notesMaster1.xml" Id="R3a0b1b459f6a4943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../slides/slide18.xml" Id="Rd83e84a76cc0418f"/><Relationship Type="http://schemas.openxmlformats.org/officeDocument/2006/relationships/notesMaster" Target="../notesMasters/notesMaster1.xml" Id="R087c63fe377b45ea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Рабочее</a:t>
            </a:r>
            <a:r>
              <a:rPr dirty="0"/>
              <a:t> </a:t>
            </a:r>
            <a:r>
              <a:rPr dirty="0" err="1"/>
              <a:t>название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: «</a:t>
            </a:r>
            <a:r>
              <a:rPr dirty="0" err="1"/>
              <a:t>Смотритель</a:t>
            </a:r>
            <a:r>
              <a:rPr dirty="0"/>
              <a:t> </a:t>
            </a:r>
            <a:r>
              <a:rPr dirty="0" err="1"/>
              <a:t>маяка</a:t>
            </a:r>
            <a:r>
              <a:rPr dirty="0"/>
              <a:t>». </a:t>
            </a:r>
            <a:r>
              <a:rPr dirty="0" err="1"/>
              <a:t>Учебный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находится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стадии</a:t>
            </a:r>
            <a:r>
              <a:rPr dirty="0"/>
              <a:t> </a:t>
            </a:r>
            <a:r>
              <a:rPr dirty="0" err="1"/>
              <a:t>концепции</a:t>
            </a:r>
            <a:r>
              <a:rPr dirty="0"/>
              <a:t>. В </a:t>
            </a:r>
            <a:r>
              <a:rPr dirty="0" err="1"/>
              <a:t>презентации</a:t>
            </a:r>
            <a:r>
              <a:rPr dirty="0"/>
              <a:t> </a:t>
            </a:r>
            <a:r>
              <a:rPr dirty="0" err="1"/>
              <a:t>описаны</a:t>
            </a:r>
            <a:r>
              <a:rPr dirty="0"/>
              <a:t> </a:t>
            </a:r>
            <a:r>
              <a:rPr dirty="0" err="1"/>
              <a:t>планируемые</a:t>
            </a:r>
            <a:r>
              <a:rPr dirty="0"/>
              <a:t> </a:t>
            </a:r>
            <a:r>
              <a:rPr dirty="0" err="1"/>
              <a:t>механики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готовая</a:t>
            </a:r>
            <a:r>
              <a:rPr dirty="0"/>
              <a:t> </a:t>
            </a:r>
            <a:r>
              <a:rPr dirty="0" err="1"/>
              <a:t>разработка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Роли</a:t>
            </a:r>
            <a:r>
              <a:rPr dirty="0"/>
              <a:t> </a:t>
            </a:r>
            <a:r>
              <a:rPr dirty="0" err="1"/>
              <a:t>предложены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обсуждения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описывают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выполненную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Планируем</a:t>
            </a:r>
            <a:r>
              <a:rPr dirty="0"/>
              <a:t> </a:t>
            </a:r>
            <a:r>
              <a:rPr dirty="0" err="1"/>
              <a:t>одиночную</a:t>
            </a:r>
            <a:r>
              <a:rPr dirty="0"/>
              <a:t> </a:t>
            </a:r>
            <a:r>
              <a:rPr dirty="0" err="1"/>
              <a:t>игру</a:t>
            </a:r>
            <a:r>
              <a:rPr dirty="0"/>
              <a:t>. </a:t>
            </a:r>
            <a:r>
              <a:rPr dirty="0" err="1"/>
              <a:t>Герой</a:t>
            </a:r>
            <a:r>
              <a:rPr dirty="0"/>
              <a:t>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смену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удалённом</a:t>
            </a:r>
            <a:r>
              <a:rPr dirty="0"/>
              <a:t> </a:t>
            </a:r>
            <a:r>
              <a:rPr dirty="0" err="1"/>
              <a:t>острове</a:t>
            </a:r>
            <a:r>
              <a:rPr dirty="0"/>
              <a:t>. </a:t>
            </a:r>
            <a:r>
              <a:rPr dirty="0" err="1"/>
              <a:t>Днём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занимается</a:t>
            </a:r>
            <a:r>
              <a:rPr dirty="0"/>
              <a:t> </a:t>
            </a:r>
            <a:r>
              <a:rPr dirty="0" err="1"/>
              <a:t>хозяйством</a:t>
            </a:r>
            <a:r>
              <a:rPr dirty="0"/>
              <a:t> и </a:t>
            </a:r>
            <a:r>
              <a:rPr dirty="0" err="1"/>
              <a:t>обслуживает</a:t>
            </a:r>
            <a:r>
              <a:rPr dirty="0"/>
              <a:t> </a:t>
            </a:r>
            <a:r>
              <a:rPr dirty="0" err="1"/>
              <a:t>маяк</a:t>
            </a:r>
            <a:r>
              <a:rPr dirty="0"/>
              <a:t>, а </a:t>
            </a:r>
            <a:r>
              <a:rPr dirty="0" err="1"/>
              <a:t>ночью</a:t>
            </a:r>
            <a:r>
              <a:rPr dirty="0"/>
              <a:t> </a:t>
            </a:r>
            <a:r>
              <a:rPr dirty="0" err="1"/>
              <a:t>сталкивается</a:t>
            </a:r>
            <a:r>
              <a:rPr dirty="0"/>
              <a:t> с </a:t>
            </a:r>
            <a:r>
              <a:rPr dirty="0" err="1"/>
              <a:t>угрозами</a:t>
            </a:r>
            <a:r>
              <a:rPr dirty="0"/>
              <a:t>. </a:t>
            </a:r>
            <a:r>
              <a:rPr dirty="0" err="1"/>
              <a:t>Ориентир</a:t>
            </a:r>
            <a:r>
              <a:rPr dirty="0"/>
              <a:t> </a:t>
            </a:r>
            <a:r>
              <a:rPr dirty="0" err="1"/>
              <a:t>длительности</a:t>
            </a:r>
            <a:r>
              <a:rPr dirty="0"/>
              <a:t> </a:t>
            </a:r>
            <a:r>
              <a:rPr dirty="0" err="1"/>
              <a:t>прохождения</a:t>
            </a:r>
            <a:r>
              <a:rPr dirty="0"/>
              <a:t>: 30 </a:t>
            </a:r>
            <a:r>
              <a:rPr dirty="0" err="1"/>
              <a:t>игровых</a:t>
            </a:r>
            <a:r>
              <a:rPr dirty="0"/>
              <a:t> </a:t>
            </a:r>
            <a:r>
              <a:rPr dirty="0" err="1"/>
              <a:t>дней</a:t>
            </a:r>
            <a:r>
              <a:rPr dirty="0"/>
              <a:t>. </a:t>
            </a:r>
            <a:r>
              <a:rPr dirty="0" err="1"/>
              <a:t>Формат</a:t>
            </a:r>
            <a:r>
              <a:rPr dirty="0"/>
              <a:t> </a:t>
            </a:r>
            <a:r>
              <a:rPr dirty="0" err="1"/>
              <a:t>камеры</a:t>
            </a:r>
            <a:r>
              <a:rPr dirty="0"/>
              <a:t>: </a:t>
            </a:r>
            <a:r>
              <a:rPr dirty="0" err="1"/>
              <a:t>изометрическая</a:t>
            </a:r>
            <a:r>
              <a:rPr dirty="0"/>
              <a:t> </a:t>
            </a:r>
            <a:r>
              <a:rPr dirty="0" err="1"/>
              <a:t>камера</a:t>
            </a:r>
            <a:r>
              <a:rPr dirty="0"/>
              <a:t> в </a:t>
            </a:r>
            <a:r>
              <a:rPr dirty="0" err="1"/>
              <a:t>трёхмерной</a:t>
            </a:r>
            <a:r>
              <a:rPr dirty="0"/>
              <a:t> </a:t>
            </a:r>
            <a:r>
              <a:rPr dirty="0" err="1"/>
              <a:t>сцене</a:t>
            </a:r>
            <a:r>
              <a:rPr dirty="0"/>
              <a:t>. VR-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пока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входит</a:t>
            </a:r>
            <a:r>
              <a:rPr dirty="0"/>
              <a:t> в </a:t>
            </a:r>
            <a:r>
              <a:rPr dirty="0" err="1"/>
              <a:t>заявленную</a:t>
            </a:r>
            <a:r>
              <a:rPr dirty="0"/>
              <a:t> </a:t>
            </a:r>
            <a:r>
              <a:rPr dirty="0" err="1"/>
              <a:t>концепцию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игровой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повторяется</a:t>
            </a:r>
            <a:r>
              <a:rPr dirty="0"/>
              <a:t> </a:t>
            </a: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день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задания</a:t>
            </a:r>
            <a:r>
              <a:rPr dirty="0"/>
              <a:t> и </a:t>
            </a:r>
            <a:r>
              <a:rPr dirty="0" err="1"/>
              <a:t>ночные</a:t>
            </a:r>
            <a:r>
              <a:rPr dirty="0"/>
              <a:t> </a:t>
            </a:r>
            <a:r>
              <a:rPr dirty="0" err="1"/>
              <a:t>события</a:t>
            </a:r>
            <a:r>
              <a:rPr dirty="0"/>
              <a:t> </a:t>
            </a:r>
            <a:r>
              <a:rPr dirty="0" err="1"/>
              <a:t>постепенно</a:t>
            </a:r>
            <a:r>
              <a:rPr dirty="0"/>
              <a:t> </a:t>
            </a:r>
            <a:r>
              <a:rPr dirty="0" err="1"/>
              <a:t>усложняются</a:t>
            </a:r>
            <a:r>
              <a:rPr dirty="0"/>
              <a:t>. </a:t>
            </a: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задания</a:t>
            </a:r>
            <a:r>
              <a:rPr dirty="0"/>
              <a:t>: </a:t>
            </a:r>
            <a:r>
              <a:rPr dirty="0" err="1"/>
              <a:t>забрать</a:t>
            </a:r>
            <a:r>
              <a:rPr dirty="0"/>
              <a:t> </a:t>
            </a:r>
            <a:r>
              <a:rPr dirty="0" err="1"/>
              <a:t>топливо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склада</a:t>
            </a:r>
            <a:r>
              <a:rPr dirty="0"/>
              <a:t> у </a:t>
            </a:r>
            <a:r>
              <a:rPr dirty="0" err="1"/>
              <a:t>берега</a:t>
            </a:r>
            <a:r>
              <a:rPr dirty="0"/>
              <a:t>, </a:t>
            </a:r>
            <a:r>
              <a:rPr dirty="0" err="1"/>
              <a:t>отнести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к </a:t>
            </a:r>
            <a:r>
              <a:rPr dirty="0" err="1"/>
              <a:t>маяку</a:t>
            </a:r>
            <a:r>
              <a:rPr dirty="0"/>
              <a:t> и </a:t>
            </a:r>
            <a:r>
              <a:rPr dirty="0" err="1"/>
              <a:t>зажечь</a:t>
            </a:r>
            <a:r>
              <a:rPr dirty="0"/>
              <a:t> </a:t>
            </a:r>
            <a:r>
              <a:rPr dirty="0" err="1"/>
              <a:t>свет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темноты</a:t>
            </a:r>
            <a:r>
              <a:rPr dirty="0"/>
              <a:t>. </a:t>
            </a:r>
            <a:r>
              <a:rPr dirty="0" err="1"/>
              <a:t>Игрок</a:t>
            </a:r>
            <a:r>
              <a:rPr dirty="0"/>
              <a:t> </a:t>
            </a:r>
            <a:r>
              <a:rPr dirty="0" err="1"/>
              <a:t>выбирает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потратить</a:t>
            </a:r>
            <a:r>
              <a:rPr dirty="0"/>
              <a:t> </a:t>
            </a:r>
            <a:r>
              <a:rPr dirty="0" err="1"/>
              <a:t>оставшееся</a:t>
            </a:r>
            <a:r>
              <a:rPr dirty="0"/>
              <a:t> </a:t>
            </a:r>
            <a:r>
              <a:rPr dirty="0" err="1"/>
              <a:t>дневное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описания</a:t>
            </a:r>
            <a:r>
              <a:rPr dirty="0"/>
              <a:t>: https://store.steampowered.com/app/1562430/DREDGE/</a:t>
            </a:r>
          </a:p>
          <a:p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изображения</a:t>
            </a:r>
            <a:r>
              <a:rPr dirty="0"/>
              <a:t>: https://shared.akamai.steamstatic.com/store_item_assets/steam/apps/1562430/ss_e964290b6a6a6941e299ba5be00fd3d98aec6d06.1920x1080.jpg?t=1780479732</a:t>
            </a:r>
          </a:p>
          <a:p>
            <a:r>
              <a:rPr dirty="0" err="1"/>
              <a:t>Изображение</a:t>
            </a:r>
            <a:r>
              <a:rPr dirty="0"/>
              <a:t> </a:t>
            </a:r>
            <a:r>
              <a:rPr dirty="0" err="1"/>
              <a:t>принадлежит</a:t>
            </a:r>
            <a:r>
              <a:rPr dirty="0"/>
              <a:t> </a:t>
            </a:r>
            <a:r>
              <a:rPr dirty="0" err="1"/>
              <a:t>правообладателям</a:t>
            </a:r>
            <a:r>
              <a:rPr dirty="0"/>
              <a:t> </a:t>
            </a:r>
            <a:r>
              <a:rPr dirty="0" err="1"/>
              <a:t>игры</a:t>
            </a:r>
            <a:r>
              <a:rPr dirty="0"/>
              <a:t> и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референс</a:t>
            </a:r>
            <a:r>
              <a:rPr dirty="0"/>
              <a:t> в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презентации</a:t>
            </a:r>
            <a:r>
              <a:rPr dirty="0"/>
              <a:t>.</a:t>
            </a:r>
          </a:p>
          <a:p>
            <a:r>
              <a:rPr dirty="0" err="1"/>
              <a:t>Планируем</a:t>
            </a:r>
            <a:r>
              <a:rPr dirty="0"/>
              <a:t> </a:t>
            </a:r>
            <a:r>
              <a:rPr dirty="0" err="1"/>
              <a:t>простые</a:t>
            </a:r>
            <a:r>
              <a:rPr dirty="0"/>
              <a:t> 3D-модели с </a:t>
            </a:r>
            <a:r>
              <a:rPr dirty="0" err="1"/>
              <a:t>читаемыми</a:t>
            </a:r>
            <a:r>
              <a:rPr dirty="0"/>
              <a:t> </a:t>
            </a:r>
            <a:r>
              <a:rPr dirty="0" err="1"/>
              <a:t>силуэтами</a:t>
            </a:r>
            <a:r>
              <a:rPr dirty="0"/>
              <a:t> и </a:t>
            </a:r>
            <a:r>
              <a:rPr dirty="0" err="1"/>
              <a:t>умеренной</a:t>
            </a:r>
            <a:r>
              <a:rPr dirty="0"/>
              <a:t> </a:t>
            </a:r>
            <a:r>
              <a:rPr dirty="0" err="1"/>
              <a:t>детализацией</a:t>
            </a:r>
            <a:r>
              <a:rPr dirty="0"/>
              <a:t>. </a:t>
            </a:r>
            <a:r>
              <a:rPr dirty="0" err="1"/>
              <a:t>Звук</a:t>
            </a:r>
            <a:r>
              <a:rPr dirty="0"/>
              <a:t> </a:t>
            </a:r>
            <a:r>
              <a:rPr dirty="0" err="1"/>
              <a:t>моря</a:t>
            </a:r>
            <a:r>
              <a:rPr dirty="0"/>
              <a:t> и </a:t>
            </a:r>
            <a:r>
              <a:rPr dirty="0" err="1"/>
              <a:t>ветра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создавать</a:t>
            </a:r>
            <a:r>
              <a:rPr dirty="0"/>
              <a:t> </a:t>
            </a:r>
            <a:r>
              <a:rPr dirty="0" err="1"/>
              <a:t>ощущение</a:t>
            </a:r>
            <a:r>
              <a:rPr dirty="0"/>
              <a:t> </a:t>
            </a:r>
            <a:r>
              <a:rPr dirty="0" err="1"/>
              <a:t>изоляции</a:t>
            </a:r>
            <a:r>
              <a:rPr dirty="0"/>
              <a:t>.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мере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состояния</a:t>
            </a:r>
            <a:r>
              <a:rPr dirty="0"/>
              <a:t> </a:t>
            </a:r>
            <a:r>
              <a:rPr dirty="0" err="1"/>
              <a:t>героя</a:t>
            </a:r>
            <a:r>
              <a:rPr dirty="0"/>
              <a:t> </a:t>
            </a:r>
            <a:r>
              <a:rPr dirty="0" err="1"/>
              <a:t>палитра</a:t>
            </a:r>
            <a:r>
              <a:rPr dirty="0"/>
              <a:t> </a:t>
            </a:r>
            <a:r>
              <a:rPr dirty="0" err="1"/>
              <a:t>становится</a:t>
            </a:r>
            <a:r>
              <a:rPr dirty="0"/>
              <a:t> </a:t>
            </a:r>
            <a:r>
              <a:rPr dirty="0" err="1"/>
              <a:t>холоднее</a:t>
            </a:r>
            <a:r>
              <a:rPr dirty="0"/>
              <a:t>, </a:t>
            </a:r>
            <a:r>
              <a:rPr dirty="0" err="1"/>
              <a:t>тени</a:t>
            </a:r>
            <a:r>
              <a:rPr dirty="0"/>
              <a:t> </a:t>
            </a:r>
            <a:r>
              <a:rPr dirty="0" err="1"/>
              <a:t>гуще</a:t>
            </a:r>
            <a:r>
              <a:rPr dirty="0"/>
              <a:t>, а </a:t>
            </a:r>
            <a:r>
              <a:rPr dirty="0" err="1"/>
              <a:t>привычные</a:t>
            </a:r>
            <a:r>
              <a:rPr dirty="0"/>
              <a:t> </a:t>
            </a:r>
            <a:r>
              <a:rPr dirty="0" err="1"/>
              <a:t>звуки</a:t>
            </a:r>
            <a:r>
              <a:rPr dirty="0"/>
              <a:t> </a:t>
            </a:r>
            <a:r>
              <a:rPr dirty="0" err="1"/>
              <a:t>искажаются</a:t>
            </a:r>
            <a:r>
              <a:rPr dirty="0"/>
              <a:t>. </a:t>
            </a:r>
            <a:r>
              <a:rPr dirty="0" err="1"/>
              <a:t>Изображение</a:t>
            </a:r>
            <a:r>
              <a:rPr dirty="0"/>
              <a:t> DREDGE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направление</a:t>
            </a:r>
            <a:r>
              <a:rPr dirty="0"/>
              <a:t> </a:t>
            </a:r>
            <a:r>
              <a:rPr dirty="0" err="1"/>
              <a:t>атмосферы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описания</a:t>
            </a:r>
            <a:r>
              <a:rPr dirty="0"/>
              <a:t>: https://store.steampowered.com/app/108600/Project_Zomboid/</a:t>
            </a:r>
          </a:p>
          <a:p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изображения</a:t>
            </a:r>
            <a:r>
              <a:rPr dirty="0"/>
              <a:t>: https://shared.akamai.steamstatic.com/store_item_assets/steam/apps/108600/d9df2102dd12526700b15660bc5ec8f039dc8742/ss_d9df2102dd12526700b15660bc5ec8f039dc8742.1920x1080.jpg?t=1787740093</a:t>
            </a:r>
          </a:p>
          <a:p>
            <a:r>
              <a:rPr dirty="0" err="1"/>
              <a:t>Изображение</a:t>
            </a:r>
            <a:r>
              <a:rPr dirty="0"/>
              <a:t> </a:t>
            </a:r>
            <a:r>
              <a:rPr dirty="0" err="1"/>
              <a:t>принадлежит</a:t>
            </a:r>
            <a:r>
              <a:rPr dirty="0"/>
              <a:t> </a:t>
            </a:r>
            <a:r>
              <a:rPr dirty="0" err="1"/>
              <a:t>правообладателям</a:t>
            </a:r>
            <a:r>
              <a:rPr dirty="0"/>
              <a:t> </a:t>
            </a:r>
            <a:r>
              <a:rPr dirty="0" err="1"/>
              <a:t>игры</a:t>
            </a:r>
            <a:r>
              <a:rPr dirty="0"/>
              <a:t> и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референс</a:t>
            </a:r>
            <a:r>
              <a:rPr dirty="0"/>
              <a:t> в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презентации</a:t>
            </a:r>
            <a:r>
              <a:rPr dirty="0"/>
              <a:t>.</a:t>
            </a:r>
          </a:p>
          <a:p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источники</a:t>
            </a:r>
            <a:r>
              <a:rPr dirty="0"/>
              <a:t>: https://store.steampowered.com/app/274520/Darkwood/ и https://store.steampowered.com/app/1562430/DREDGE/</a:t>
            </a:r>
          </a:p>
          <a:p>
            <a:r>
              <a:rPr dirty="0"/>
              <a:t>Project </a:t>
            </a:r>
            <a:r>
              <a:rPr dirty="0" err="1"/>
              <a:t>Zomboid</a:t>
            </a:r>
            <a:r>
              <a:rPr dirty="0"/>
              <a:t> </a:t>
            </a:r>
            <a:r>
              <a:rPr dirty="0" err="1"/>
              <a:t>служит</a:t>
            </a:r>
            <a:r>
              <a:rPr dirty="0"/>
              <a:t> </a:t>
            </a:r>
            <a:r>
              <a:rPr dirty="0" err="1"/>
              <a:t>ориентиром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камеры</a:t>
            </a:r>
            <a:r>
              <a:rPr dirty="0"/>
              <a:t> и </a:t>
            </a:r>
            <a:r>
              <a:rPr dirty="0" err="1"/>
              <a:t>бытового</a:t>
            </a:r>
            <a:r>
              <a:rPr dirty="0"/>
              <a:t> </a:t>
            </a:r>
            <a:r>
              <a:rPr dirty="0" err="1"/>
              <a:t>выживания</a:t>
            </a:r>
            <a:r>
              <a:rPr dirty="0"/>
              <a:t>. Darkwood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сформулировать</a:t>
            </a:r>
            <a:r>
              <a:rPr dirty="0"/>
              <a:t> </a:t>
            </a:r>
            <a:r>
              <a:rPr dirty="0" err="1"/>
              <a:t>контраст</a:t>
            </a:r>
            <a:r>
              <a:rPr dirty="0"/>
              <a:t> </a:t>
            </a:r>
            <a:r>
              <a:rPr dirty="0" err="1"/>
              <a:t>дневной</a:t>
            </a:r>
            <a:r>
              <a:rPr dirty="0"/>
              <a:t> </a:t>
            </a:r>
            <a:r>
              <a:rPr dirty="0" err="1"/>
              <a:t>подготовки</a:t>
            </a:r>
            <a:r>
              <a:rPr dirty="0"/>
              <a:t> и </a:t>
            </a:r>
            <a:r>
              <a:rPr dirty="0" err="1"/>
              <a:t>опасной</a:t>
            </a:r>
            <a:r>
              <a:rPr dirty="0"/>
              <a:t> </a:t>
            </a:r>
            <a:r>
              <a:rPr dirty="0" err="1"/>
              <a:t>ночи</a:t>
            </a:r>
            <a:r>
              <a:rPr dirty="0"/>
              <a:t>. DREDGE </a:t>
            </a:r>
            <a:r>
              <a:rPr dirty="0" err="1"/>
              <a:t>служит</a:t>
            </a:r>
            <a:r>
              <a:rPr dirty="0"/>
              <a:t> </a:t>
            </a:r>
            <a:r>
              <a:rPr dirty="0" err="1"/>
              <a:t>ориентиром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морской</a:t>
            </a:r>
            <a:r>
              <a:rPr dirty="0"/>
              <a:t> </a:t>
            </a:r>
            <a:r>
              <a:rPr dirty="0" err="1"/>
              <a:t>атмосферы</a:t>
            </a:r>
            <a:r>
              <a:rPr dirty="0"/>
              <a:t> и </a:t>
            </a:r>
            <a:r>
              <a:rPr dirty="0" err="1"/>
              <a:t>тревоги</a:t>
            </a:r>
            <a:r>
              <a:rPr dirty="0"/>
              <a:t> в </a:t>
            </a:r>
            <a:r>
              <a:rPr dirty="0" err="1"/>
              <a:t>знакомом</a:t>
            </a:r>
            <a:r>
              <a:rPr dirty="0"/>
              <a:t> </a:t>
            </a:r>
            <a:r>
              <a:rPr dirty="0" err="1"/>
              <a:t>окружении</a:t>
            </a:r>
            <a:r>
              <a:rPr dirty="0"/>
              <a:t>. </a:t>
            </a:r>
            <a:r>
              <a:rPr dirty="0" err="1"/>
              <a:t>Применение</a:t>
            </a:r>
            <a:r>
              <a:rPr dirty="0"/>
              <a:t> </a:t>
            </a:r>
            <a:r>
              <a:rPr dirty="0" err="1"/>
              <a:t>этих</a:t>
            </a:r>
            <a:r>
              <a:rPr dirty="0"/>
              <a:t> </a:t>
            </a:r>
            <a:r>
              <a:rPr dirty="0" err="1"/>
              <a:t>идей</a:t>
            </a:r>
            <a:r>
              <a:rPr dirty="0"/>
              <a:t> к </a:t>
            </a:r>
            <a:r>
              <a:rPr dirty="0" err="1"/>
              <a:t>нашей</a:t>
            </a:r>
            <a:r>
              <a:rPr dirty="0"/>
              <a:t> </a:t>
            </a:r>
            <a:r>
              <a:rPr dirty="0" err="1"/>
              <a:t>игре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авторским</a:t>
            </a:r>
            <a:r>
              <a:rPr dirty="0"/>
              <a:t> </a:t>
            </a:r>
            <a:r>
              <a:rPr dirty="0" err="1"/>
              <a:t>предложением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описания: https://store.steampowered.com/app/108600/Project_Zomboid/</a:t>
            </a:r>
          </a:p>
          <a:p>
            <a:r>
              <a:t>Источник изображения: https://shared.akamai.steamstatic.com/store_item_assets/steam/apps/108600/e0dd37d69051f7da85896d11027ab018d23893fa/ss_e0dd37d69051f7da85896d11027ab018d23893fa.1920x1080.jpg?t=1787740093</a:t>
            </a:r>
          </a:p>
          <a:p>
            <a:r>
              <a:t>Изображение принадлежит правообладателям игры и используется как референс в учебной презентации.</a:t>
            </a:r>
          </a:p>
          <a:p>
            <a:endParaRPr/>
          </a:p>
          <a:p>
            <a:r>
              <a:t>Источник описания: https://store.steampowered.com/app/1562430/DREDGE/</a:t>
            </a:r>
          </a:p>
          <a:p>
            <a:r>
              <a:t>Источник изображения: https://shared.akamai.steamstatic.com/store_item_assets/steam/apps/1562430/ss_70f88014423ed93eaa111c0d0daca2c500f76908.1920x1080.jpg?t=1780479732</a:t>
            </a:r>
          </a:p>
          <a:p>
            <a:r>
              <a:t>Изображение принадлежит правообладателям игры и используется как референс в учебной презентации.</a:t>
            </a:r>
          </a:p>
          <a:p>
            <a:endParaRPr/>
          </a:p>
          <a:p>
            <a:r>
              <a:t>Источник описания: https://store.steampowered.com/app/274520/Darkwood/</a:t>
            </a:r>
          </a:p>
          <a:p>
            <a:r>
              <a:t>Источник изображения: https://shared.akamai.steamstatic.com/store_item_assets/steam/apps/274520/5b6bdd5ebe2f4f0d816aa2e46c26325e88066fab/ss_5b6bdd5ebe2f4f0d816aa2e46c26325e88066fab.1920x1080.jpg?t=1789669390</a:t>
            </a:r>
          </a:p>
          <a:p>
            <a:r>
              <a:t>Изображение принадлежит правообладателям игры и используется как референс в учебной презентации.</a:t>
            </a:r>
          </a:p>
          <a:p>
            <a:r>
              <a:t>Визуальные признаки отобраны командой как ориентиры для будущей игры.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Все перечисленные механики находятся на стадии идеи. Приоритет первого прототипа: перемещение, взаимодействие, ресурсы, одно задание, свет и смена дня и ночи. Полноценные рыбалка, крафт и строительство могут добавляться после проверки основного цикла.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Предлагаемая структура небольшой карты. Иллюстрация концепции создана встроенным инструментом ImageGen и не является скриншотом готовой игры.</a:t>
            </a:r>
          </a:p>
          <a:p>
            <a:r>
              <a:t>Промпт: Compact remote island in muted stylized 3D, high isometric camera. One lighthouse, one keeper cabin, a small conifer forest, a sandy beach and fishing landing. Paths connect locations. Early dusk, warm lighthouse light, cool sea. No text, no HUD, no monsters. Proposed environment concept for Lighthouse Keeper, not a game screenshot.</a:t>
            </a:r>
          </a:p>
          <a:p>
            <a:r>
              <a:t>Маяк является главным ориентиром. Хижина служит базой. Лес и берег дают разные ресурсы, поэтому игроку нужно планировать маршруты и время возвращения.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Предлагаемый вариант сюжета: изоляция, однообразная работа и недосып меняют восприятие героя. Существа могут оказаться его галлюцинациями. До финала игрок не получает однозначного подтверждения. Возможные подсказки: собственные записи героя, изменяющиеся таблички, голоса из отключённого радио, несовпадения в журнале смен. Это художественная условность сюжета.</a:t>
            </a:r>
          </a:p>
          <a:p>
            <a:r>
              <a:t>Предлагаемая прогрессия: в начале существа лишь наблюдают, затем преследуют героя, а позднее опасные встречи становятся чаще.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Предлагаемый</a:t>
            </a:r>
            <a:r>
              <a:rPr dirty="0"/>
              <a:t> </a:t>
            </a:r>
            <a:r>
              <a:rPr dirty="0" err="1"/>
              <a:t>минимальный</a:t>
            </a:r>
            <a:r>
              <a:rPr dirty="0"/>
              <a:t> </a:t>
            </a:r>
            <a:r>
              <a:rPr dirty="0" err="1"/>
              <a:t>объём</a:t>
            </a:r>
            <a:r>
              <a:rPr dirty="0"/>
              <a:t> </a:t>
            </a:r>
            <a:r>
              <a:rPr dirty="0" err="1"/>
              <a:t>первой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приступит</a:t>
            </a:r>
            <a:r>
              <a:rPr dirty="0"/>
              <a:t> к </a:t>
            </a:r>
            <a:r>
              <a:rPr dirty="0" err="1"/>
              <a:t>разработке</a:t>
            </a:r>
            <a:r>
              <a:rPr dirty="0"/>
              <a:t>. </a:t>
            </a: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игровой</a:t>
            </a:r>
            <a:r>
              <a:rPr dirty="0"/>
              <a:t> </a:t>
            </a:r>
            <a:r>
              <a:rPr dirty="0" err="1"/>
              <a:t>день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получения</a:t>
            </a:r>
            <a:r>
              <a:rPr dirty="0"/>
              <a:t> </a:t>
            </a:r>
            <a:r>
              <a:rPr dirty="0" err="1"/>
              <a:t>задания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ночного</a:t>
            </a:r>
            <a:r>
              <a:rPr dirty="0"/>
              <a:t> </a:t>
            </a:r>
            <a:r>
              <a:rPr dirty="0" err="1"/>
              <a:t>события</a:t>
            </a:r>
            <a:r>
              <a:rPr dirty="0"/>
              <a:t>. Это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работ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отчёт</a:t>
            </a:r>
            <a:r>
              <a:rPr dirty="0"/>
              <a:t> о </a:t>
            </a:r>
            <a:r>
              <a:rPr dirty="0" err="1"/>
              <a:t>готовых</a:t>
            </a:r>
            <a:r>
              <a:rPr dirty="0"/>
              <a:t> </a:t>
            </a:r>
            <a:r>
              <a:rPr dirty="0" err="1"/>
              <a:t>функциях</a:t>
            </a:r>
            <a:r>
              <a:rPr dirty="0"/>
              <a:t>.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цикла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расширять</a:t>
            </a:r>
            <a:r>
              <a:rPr dirty="0"/>
              <a:t> </a:t>
            </a:r>
            <a:r>
              <a:rPr dirty="0" err="1"/>
              <a:t>строительство</a:t>
            </a:r>
            <a:r>
              <a:rPr dirty="0"/>
              <a:t>, </a:t>
            </a:r>
            <a:r>
              <a:rPr dirty="0" err="1"/>
              <a:t>рыбалку</a:t>
            </a:r>
            <a:r>
              <a:rPr dirty="0"/>
              <a:t>, </a:t>
            </a:r>
            <a:r>
              <a:rPr dirty="0" err="1"/>
              <a:t>виды</a:t>
            </a:r>
            <a:r>
              <a:rPr dirty="0"/>
              <a:t> </a:t>
            </a:r>
            <a:r>
              <a:rPr dirty="0" err="1"/>
              <a:t>существ</a:t>
            </a:r>
            <a:r>
              <a:rPr dirty="0"/>
              <a:t> и </a:t>
            </a:r>
            <a:r>
              <a:rPr dirty="0" err="1"/>
              <a:t>сюжетные</a:t>
            </a:r>
            <a:r>
              <a:rPr dirty="0"/>
              <a:t> </a:t>
            </a:r>
            <a:r>
              <a:rPr dirty="0" err="1"/>
              <a:t>события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выбрали Godot 4.7.2 и делаем обычную одиночную игру для компьютера, без VR. На слайде показан настоящий кадр демоверсии. В ней уже есть объёмный остров с маяком, хижиной, лесом и причалом. Камера смотрит сверху под углом и следует за персонажем. Игрок может ходить, бегать и приближать изображение. Пока готов один законченный эпизод под названием «Первая смена»: нужно подготовиться к ночи и дождаться рассвета.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текущий проект «Смотритель маяка», https://github.com/Vlad1k22/lighthouse-keeper. Слайды 12–15 содержат реальные кадры игры, слайд 16 — снимок редактора Godot.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Основной игровой цикл уже можно пройти. Сначала игрок находит канистру и запускает генератор маяка. Затем собирает древесину и строит укрепление у хижины. На причале можно поймать рыбу, приготовить её на печи и восстановить сытость. При взаимодействии игра проверяет расстояние и количество ресурсов. Построенное укрепление появляется на карте и имеет физические коллизии. Интерфейс показывает задания, инвентарь и состояние героя. Также работают сохранение и загрузка прогресса.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текущий проект «Смотритель маяка», https://github.com/Vlad1k22/lighthouse-keeper. Слайды 12–15 содержат реальные кадры игры, слайд 16 — снимок редактора Godot.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Вечером меняются освещение и цвет моря. Ночью появляются тени, которые преследуют героя и могут нанести урон. Они отступают от ручного фонаря и безопасных освещённых зон. Луч маяка вращается вместе с источником света. Для атмосферы добавлены дождь, дым из трубы, движение ветвей, чайки и качка лодки. Вода использует собственный шейдер с волнами и прибоем. Прибой, шаги, дождь и тихий тревожный фон создаются программно.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текущий проект «Смотритель маяка», https://github.com/Vlad1k22/lighthouse-keeper. Слайды 12–15 содержат реальные кадры игры, слайд 16 — снимок редактора Godot.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Появились первые элементы психологического хоррора. На тропе герой находит надпись, в которой узнаёт свой почерк. По радио приходит сообщение, что он находится на острове один. Эти находки попадают в личный журнал и сохраняются вместе со сменой. Во время чтения игровое время и противники останавливаются. Так мы начинаем раскрывать задумку: игрок должен сомневаться, что происходит на самом деле и насколько можно доверять восприятию смотрителя.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текущий проект «Смотритель маяка», https://github.com/Vlad1k22/lighthouse-keeper. Слайды 12–15 содержат реальные кадры игры, слайд 16 — снимок редактора Godot.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показан сам редактор Godot с нашим уровнем. Проект разделён на сцены острова, персонажа и противника. Часть геометрии собирается генератором и сохраняется в обычные сцены, которые можно редактировать дальше. Персонаж использует CharacterBody3D, а объекты окружения имеют коллизии. Точки взаимодействия оформлены как Area3D. Логику заданий, времени и врагов задают скрипты на GDScript. Ходьбу воспроизводит AnimationPlayer. Для изображения используются источники света, частицы и шейдеры, а интерфейс построен на элементах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текущий проект «Смотритель маяка», https://github.com/Vlad1k22/lighthouse-keeper. Слайды 12–15 содержат реальные кадры игры, слайд 16 — снимок редактора Godot.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начинали без опыта работы с Godot. Первую рабочую версию подготовили с помощью ИИ-ассистента. Теперь используем её как основу для изучения движка: разбираем дерево сцены, смотрим связи между узлами и читаем скрипты конкретных механик. Для дальнейших изменений важно понимать, какая сцена и какой скрипт отвечают за нужное поведение. В проекте есть автоматические проверки игрового цикла, управления, противников, погоды, журнала и сохранений. Сейчас проходят все 32 проверки. Исходники и история изменений находятся на GitHub.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текущий проект «Смотритель маяка», https://github.com/Vlad1k22/lighthouse-keeper. Слайды 12–15 содержат реальные кадры игры, слайд 16 — снимок редактора Godot.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Следующий этап — расширить первую смену: добавить задания и предметы, новые варианты улучшения хижины и больше сюжетных событий. Нужно улучшить обход препятствий у противников и постепенно усиливать угрозу по дням. Также продолжим работать над моделями, звуком и удобством управления. Полная кампания на тридцать дней пока остаётся целью. Сейчас у нас есть основа, на которой можно изучать Godot, проверять игровые решения и постепенно развивать проект. Спасибо за внимание!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текущий проект «Смотритель маяка», https://github.com/Vlad1k22/lighthouse-keeper. Слайды 12–15 содержат реальные кадры игры, слайд 16 — снимок редактора Godot.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../added/slideLayouts/slideLayout6.xml" Id="R7129792218ec4362"/><Relationship Type="http://schemas.openxmlformats.org/officeDocument/2006/relationships/image" Target="../added/media/image.png" Id="Rc6be29c641794f4d"/><Relationship Type="http://schemas.openxmlformats.org/officeDocument/2006/relationships/notesSlide" Target="../notesSlides/notesSlide12.xml" Id="R122fbbe597c34a99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../added/slideLayouts/slideLayout6.xml" Id="Re5dcf9068af143e2"/><Relationship Type="http://schemas.openxmlformats.org/officeDocument/2006/relationships/image" Target="../added/media/image2.png" Id="R69d5e9717c9a4e54"/><Relationship Type="http://schemas.openxmlformats.org/officeDocument/2006/relationships/notesSlide" Target="../notesSlides/notesSlide13.xml" Id="R165751c70b6341c1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../added/slideLayouts/slideLayout6.xml" Id="Rebbdcc234f7f4a67"/><Relationship Type="http://schemas.openxmlformats.org/officeDocument/2006/relationships/image" Target="../added/media/image3.png" Id="Rfcb74420c3294829"/><Relationship Type="http://schemas.openxmlformats.org/officeDocument/2006/relationships/notesSlide" Target="../notesSlides/notesSlide14.xml" Id="R54e3c1ef70004aa0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../added/slideLayouts/slideLayout6.xml" Id="Rcc2ca191c74d4b7f"/><Relationship Type="http://schemas.openxmlformats.org/officeDocument/2006/relationships/image" Target="../added/media/image4.png" Id="Ree6ba9b64b604707"/><Relationship Type="http://schemas.openxmlformats.org/officeDocument/2006/relationships/notesSlide" Target="../notesSlides/notesSlide15.xml" Id="Re711912d3fd24605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../added/slideLayouts/slideLayout6.xml" Id="R2634875768a84521"/><Relationship Type="http://schemas.openxmlformats.org/officeDocument/2006/relationships/image" Target="../added/media/image5.png" Id="Rffb6570cf5da4704"/><Relationship Type="http://schemas.openxmlformats.org/officeDocument/2006/relationships/notesSlide" Target="../notesSlides/notesSlide16.xml" Id="R19157b49a87e45ee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../added/slideLayouts/slideLayout6.xml" Id="Rb59783fecdba4dd7"/><Relationship Type="http://schemas.openxmlformats.org/officeDocument/2006/relationships/notesSlide" Target="../notesSlides/notesSlide17.xml" Id="R1cefad645245475e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../added/slideLayouts/slideLayout6.xml" Id="Ra4a28f42d8da4b5b"/><Relationship Type="http://schemas.openxmlformats.org/officeDocument/2006/relationships/notesSlide" Target="../notesSlides/notesSlide18.xml" Id="R2cb6a5f793c4423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оект по курсу&#10;«Платформы виртуальной&#10;реальности»">
            <a:extLst>
              <a:ext uri="{FF2B5EF4-FFF2-40B4-BE49-F238E27FC236}">
                <a16:creationId xmlns:a16="http://schemas.microsoft.com/office/drawing/2014/main" id="{F4A23FC0-E99E-4D8C-9689-121A958CCABC}"/>
              </a:ext>
            </a:extLst>
          </p:cNvPr>
          <p:cNvSpPr>
            <a:spLocks noGrp="1"/>
          </p:cNvSpPr>
          <p:nvPr/>
        </p:nvSpPr>
        <p:spPr>
          <a:xfrm>
            <a:off x="952500" y="1924050"/>
            <a:ext cx="10287000" cy="214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4200" b="1" dirty="0" err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Проект</a:t>
            </a:r>
            <a:r>
              <a:rPr sz="4200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dirty="0" err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по</a:t>
            </a:r>
            <a:r>
              <a:rPr sz="4200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dirty="0" err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курсу</a:t>
            </a:r>
            <a:endParaRPr sz="4200" b="1" dirty="0">
              <a:solidFill>
                <a:srgbClr val="173A3D"/>
              </a:solidFill>
              <a:latin typeface="Arial"/>
              <a:ea typeface="Arial"/>
              <a:cs typeface="Arial"/>
            </a:endParaRPr>
          </a:p>
          <a:p>
            <a:pPr algn="ctr">
              <a:defRPr sz="4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4200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«</a:t>
            </a:r>
            <a:r>
              <a:rPr sz="4200" b="1" dirty="0" err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Платформы</a:t>
            </a:r>
            <a:r>
              <a:rPr sz="4200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dirty="0" err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виртуальной</a:t>
            </a:r>
            <a:endParaRPr sz="4200" b="1" dirty="0">
              <a:solidFill>
                <a:srgbClr val="173A3D"/>
              </a:solidFill>
              <a:latin typeface="Arial"/>
              <a:ea typeface="Arial"/>
              <a:cs typeface="Arial"/>
            </a:endParaRPr>
          </a:p>
          <a:p>
            <a:pPr algn="ctr">
              <a:defRPr sz="4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4200" b="1" dirty="0" err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реальности</a:t>
            </a:r>
            <a:r>
              <a:rPr sz="4200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»</a:t>
            </a:r>
          </a:p>
        </p:txBody>
      </p:sp>
      <p:sp>
        <p:nvSpPr>
          <p:cNvPr id="2" name="Смотритель маяка">
            <a:extLst>
              <a:ext uri="{FF2B5EF4-FFF2-40B4-BE49-F238E27FC236}">
                <a16:creationId xmlns:a16="http://schemas.microsoft.com/office/drawing/2014/main" id="{F52AFAF7-09F8-4ED7-9FF6-B4126409864E}"/>
              </a:ext>
            </a:extLst>
          </p:cNvPr>
          <p:cNvSpPr>
            <a:spLocks noGrp="1"/>
          </p:cNvSpPr>
          <p:nvPr/>
        </p:nvSpPr>
        <p:spPr>
          <a:xfrm>
            <a:off x="1656990" y="4127050"/>
            <a:ext cx="8757968" cy="5411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700" b="0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0" dirty="0" err="1">
                <a:solidFill>
                  <a:srgbClr val="AC7939"/>
                </a:solidFill>
                <a:latin typeface="Arial"/>
                <a:ea typeface="Arial"/>
                <a:cs typeface="Arial"/>
              </a:rPr>
              <a:t>Смотритель</a:t>
            </a:r>
            <a:r>
              <a:rPr sz="2700" b="0" dirty="0">
                <a:solidFill>
                  <a:srgbClr val="AC7939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0" dirty="0" err="1">
                <a:solidFill>
                  <a:srgbClr val="AC7939"/>
                </a:solidFill>
                <a:latin typeface="Arial"/>
                <a:ea typeface="Arial"/>
                <a:cs typeface="Arial"/>
              </a:rPr>
              <a:t>маяка</a:t>
            </a:r>
            <a:endParaRPr sz="2700" b="0" dirty="0">
              <a:solidFill>
                <a:srgbClr val="AC793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C06BB5-0B3C-BBA1-A55F-FE0C82B6DF57}"/>
              </a:ext>
            </a:extLst>
          </p:cNvPr>
          <p:cNvSpPr txBox="1"/>
          <p:nvPr/>
        </p:nvSpPr>
        <p:spPr>
          <a:xfrm>
            <a:off x="6035974" y="51051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/>
              <a:t>Кафедра «Информационные системы и технологии»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BDF9F4-EAB0-1628-53E9-8089FCA6C0D5}"/>
              </a:ext>
            </a:extLst>
          </p:cNvPr>
          <p:cNvSpPr txBox="1"/>
          <p:nvPr/>
        </p:nvSpPr>
        <p:spPr>
          <a:xfrm>
            <a:off x="6245524" y="5435659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Выполнили студенты группы ИУК2-53Б</a:t>
            </a:r>
            <a:r>
              <a:rPr lang="en-US" sz="2000" dirty="0"/>
              <a:t>:</a:t>
            </a:r>
            <a:r>
              <a:rPr lang="ru-RU" sz="2000" dirty="0"/>
              <a:t> Людкевич Владислав</a:t>
            </a:r>
            <a:r>
              <a:rPr lang="en-US" sz="2000" dirty="0"/>
              <a:t>,</a:t>
            </a:r>
            <a:r>
              <a:rPr lang="ru-RU" sz="2000" dirty="0"/>
              <a:t> Котельников Константин</a:t>
            </a:r>
            <a:r>
              <a:rPr lang="en-US" sz="2000" dirty="0"/>
              <a:t>,</a:t>
            </a:r>
            <a:r>
              <a:rPr lang="ru-RU" sz="2000" dirty="0"/>
              <a:t> Виговский Андрей</a:t>
            </a:r>
            <a:r>
              <a:rPr lang="en-US" sz="2000" dirty="0"/>
              <a:t>,</a:t>
            </a:r>
            <a:r>
              <a:rPr lang="ru-RU" sz="2000" dirty="0"/>
              <a:t> Артамонов Артем                                        2026г.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3697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Команда проекта">
            <a:extLst>
              <a:ext uri="{FF2B5EF4-FFF2-40B4-BE49-F238E27FC236}">
                <a16:creationId xmlns:a16="http://schemas.microsoft.com/office/drawing/2014/main" id="{211F2E50-1364-40A5-B9A8-2A9389439D98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Команда проекта</a:t>
            </a:r>
          </a:p>
        </p:txBody>
      </p:sp>
      <p:sp>
        <p:nvSpPr>
          <p:cNvPr id="2" name="02">
            <a:extLst>
              <a:ext uri="{FF2B5EF4-FFF2-40B4-BE49-F238E27FC236}">
                <a16:creationId xmlns:a16="http://schemas.microsoft.com/office/drawing/2014/main" id="{C0E4E8AA-4760-4F91-AE40-356036E99AE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Предлагаемое распределение ролей">
            <a:extLst>
              <a:ext uri="{FF2B5EF4-FFF2-40B4-BE49-F238E27FC236}">
                <a16:creationId xmlns:a16="http://schemas.microsoft.com/office/drawing/2014/main" id="{83493EFD-A507-4A28-BF66-079D9C529310}"/>
              </a:ext>
            </a:extLst>
          </p:cNvPr>
          <p:cNvSpPr>
            <a:spLocks noGrp="1"/>
          </p:cNvSpPr>
          <p:nvPr/>
        </p:nvSpPr>
        <p:spPr>
          <a:xfrm>
            <a:off x="685800" y="1237891"/>
            <a:ext cx="10820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Предлагаемое распределение ролей</a:t>
            </a:r>
          </a:p>
        </p:txBody>
      </p:sp>
      <p:sp>
        <p:nvSpPr>
          <p:cNvPr id="4" name="Место для фотографии Влад Людкевич">
            <a:extLst>
              <a:ext uri="{FF2B5EF4-FFF2-40B4-BE49-F238E27FC236}">
                <a16:creationId xmlns:a16="http://schemas.microsoft.com/office/drawing/2014/main" id="{72D78E07-E118-4105-8B52-3CD4E28D7590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2505075" cy="3714750"/>
          </a:xfrm>
          <a:prstGeom prst="rect">
            <a:avLst/>
          </a:prstGeom>
          <a:solidFill>
            <a:srgbClr val="E2E7E4"/>
          </a:solidFill>
          <a:ln w="9525">
            <a:solidFill>
              <a:srgbClr val="C6D0CB"/>
            </a:solidFill>
          </a:ln>
        </p:spPr>
      </p:sp>
      <p:sp>
        <p:nvSpPr>
          <p:cNvPr id="5" name="Место для фото">
            <a:extLst>
              <a:ext uri="{FF2B5EF4-FFF2-40B4-BE49-F238E27FC236}">
                <a16:creationId xmlns:a16="http://schemas.microsoft.com/office/drawing/2014/main" id="{748F36B7-8E1C-4DD9-A63C-A2CC8CB7DC76}"/>
              </a:ext>
            </a:extLst>
          </p:cNvPr>
          <p:cNvSpPr>
            <a:spLocks noGrp="1"/>
          </p:cNvSpPr>
          <p:nvPr/>
        </p:nvSpPr>
        <p:spPr>
          <a:xfrm>
            <a:off x="838200" y="2343150"/>
            <a:ext cx="22002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Место для фото</a:t>
            </a:r>
          </a:p>
        </p:txBody>
      </p:sp>
      <p:sp>
        <p:nvSpPr>
          <p:cNvPr id="6" name="Влад&#10;Людкевич">
            <a:extLst>
              <a:ext uri="{FF2B5EF4-FFF2-40B4-BE49-F238E27FC236}">
                <a16:creationId xmlns:a16="http://schemas.microsoft.com/office/drawing/2014/main" id="{FAF79E6D-9CDC-48D2-BC25-3899D70F7AF7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22002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Влад</a:t>
            </a:r>
          </a:p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Людкевич</a:t>
            </a:r>
          </a:p>
        </p:txBody>
      </p:sp>
      <p:sp>
        <p:nvSpPr>
          <p:cNvPr id="7" name="Геймдизайнер&#10;и сценарист">
            <a:extLst>
              <a:ext uri="{FF2B5EF4-FFF2-40B4-BE49-F238E27FC236}">
                <a16:creationId xmlns:a16="http://schemas.microsoft.com/office/drawing/2014/main" id="{A0444CAD-E1CB-4F6C-B998-FA342F75BAC6}"/>
              </a:ext>
            </a:extLst>
          </p:cNvPr>
          <p:cNvSpPr>
            <a:spLocks noGrp="1"/>
          </p:cNvSpPr>
          <p:nvPr/>
        </p:nvSpPr>
        <p:spPr>
          <a:xfrm>
            <a:off x="792192" y="5934974"/>
            <a:ext cx="2200275" cy="52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33494A"/>
                </a:solidFill>
                <a:latin typeface="Arial"/>
                <a:ea typeface="Arial"/>
                <a:cs typeface="Arial"/>
              </a:rPr>
              <a:t>Геймдизайнер</a:t>
            </a: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</a:t>
            </a:r>
            <a:r>
              <a:rPr lang="ru-RU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программист</a:t>
            </a: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Место для фотографии Костя Котельников">
            <a:extLst>
              <a:ext uri="{FF2B5EF4-FFF2-40B4-BE49-F238E27FC236}">
                <a16:creationId xmlns:a16="http://schemas.microsoft.com/office/drawing/2014/main" id="{3C3611B7-945C-4A47-AA4C-DE7EA352247D}"/>
              </a:ext>
            </a:extLst>
          </p:cNvPr>
          <p:cNvSpPr>
            <a:spLocks noGrp="1"/>
          </p:cNvSpPr>
          <p:nvPr/>
        </p:nvSpPr>
        <p:spPr>
          <a:xfrm>
            <a:off x="3457572" y="2019300"/>
            <a:ext cx="2505075" cy="3714750"/>
          </a:xfrm>
          <a:prstGeom prst="rect">
            <a:avLst/>
          </a:prstGeom>
          <a:solidFill>
            <a:srgbClr val="E2E7E4"/>
          </a:solidFill>
          <a:ln w="9525">
            <a:solidFill>
              <a:srgbClr val="C6D0CB"/>
            </a:solidFill>
          </a:ln>
        </p:spPr>
      </p:sp>
      <p:sp>
        <p:nvSpPr>
          <p:cNvPr id="9" name="Место для фото">
            <a:extLst>
              <a:ext uri="{FF2B5EF4-FFF2-40B4-BE49-F238E27FC236}">
                <a16:creationId xmlns:a16="http://schemas.microsoft.com/office/drawing/2014/main" id="{2333EE1F-D51D-4877-AFB7-A765FBAF7379}"/>
              </a:ext>
            </a:extLst>
          </p:cNvPr>
          <p:cNvSpPr>
            <a:spLocks noGrp="1"/>
          </p:cNvSpPr>
          <p:nvPr/>
        </p:nvSpPr>
        <p:spPr>
          <a:xfrm>
            <a:off x="3609975" y="2343150"/>
            <a:ext cx="22002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Место для фото</a:t>
            </a:r>
          </a:p>
        </p:txBody>
      </p:sp>
      <p:sp>
        <p:nvSpPr>
          <p:cNvPr id="11" name="Программист&#10;игровых механик">
            <a:extLst>
              <a:ext uri="{FF2B5EF4-FFF2-40B4-BE49-F238E27FC236}">
                <a16:creationId xmlns:a16="http://schemas.microsoft.com/office/drawing/2014/main" id="{0ADCF54E-50CB-4D87-8E07-533FD9B4ADFD}"/>
              </a:ext>
            </a:extLst>
          </p:cNvPr>
          <p:cNvSpPr>
            <a:spLocks noGrp="1"/>
          </p:cNvSpPr>
          <p:nvPr/>
        </p:nvSpPr>
        <p:spPr>
          <a:xfrm>
            <a:off x="3563969" y="5808813"/>
            <a:ext cx="2192726" cy="76433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Программист</a:t>
            </a:r>
            <a:r>
              <a:rPr lang="en-US" sz="1800" b="0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1800" b="0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 разработчик</a:t>
            </a: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33494A"/>
                </a:solidFill>
                <a:latin typeface="Arial"/>
                <a:ea typeface="Arial"/>
                <a:cs typeface="Arial"/>
              </a:rPr>
              <a:t>игровых</a:t>
            </a:r>
            <a:r>
              <a:rPr sz="1800" b="0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33494A"/>
                </a:solidFill>
                <a:latin typeface="Arial"/>
                <a:ea typeface="Arial"/>
                <a:cs typeface="Arial"/>
              </a:rPr>
              <a:t>механик</a:t>
            </a: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Место для фотографии Андрей Виговский">
            <a:extLst>
              <a:ext uri="{FF2B5EF4-FFF2-40B4-BE49-F238E27FC236}">
                <a16:creationId xmlns:a16="http://schemas.microsoft.com/office/drawing/2014/main" id="{5391E56C-82F4-4A9B-A5FA-0B54B1270E42}"/>
              </a:ext>
            </a:extLst>
          </p:cNvPr>
          <p:cNvSpPr>
            <a:spLocks noGrp="1"/>
          </p:cNvSpPr>
          <p:nvPr/>
        </p:nvSpPr>
        <p:spPr>
          <a:xfrm>
            <a:off x="6229350" y="2019300"/>
            <a:ext cx="2505075" cy="3714750"/>
          </a:xfrm>
          <a:prstGeom prst="rect">
            <a:avLst/>
          </a:prstGeom>
          <a:solidFill>
            <a:srgbClr val="E2E7E4"/>
          </a:solidFill>
          <a:ln w="9525">
            <a:solidFill>
              <a:srgbClr val="C6D0CB"/>
            </a:solidFill>
          </a:ln>
        </p:spPr>
      </p:sp>
      <p:sp>
        <p:nvSpPr>
          <p:cNvPr id="13" name="Место для фото">
            <a:extLst>
              <a:ext uri="{FF2B5EF4-FFF2-40B4-BE49-F238E27FC236}">
                <a16:creationId xmlns:a16="http://schemas.microsoft.com/office/drawing/2014/main" id="{F0DE51B3-EFEA-4DD6-84AA-314FC87F18CE}"/>
              </a:ext>
            </a:extLst>
          </p:cNvPr>
          <p:cNvSpPr>
            <a:spLocks noGrp="1"/>
          </p:cNvSpPr>
          <p:nvPr/>
        </p:nvSpPr>
        <p:spPr>
          <a:xfrm>
            <a:off x="6381750" y="2343150"/>
            <a:ext cx="22002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Место для фото</a:t>
            </a:r>
          </a:p>
        </p:txBody>
      </p:sp>
      <p:sp>
        <p:nvSpPr>
          <p:cNvPr id="14" name="Андрей&#10;Виговский">
            <a:extLst>
              <a:ext uri="{FF2B5EF4-FFF2-40B4-BE49-F238E27FC236}">
                <a16:creationId xmlns:a16="http://schemas.microsoft.com/office/drawing/2014/main" id="{6085C0AE-5F21-4F97-8D5A-AC1FE7233D5C}"/>
              </a:ext>
            </a:extLst>
          </p:cNvPr>
          <p:cNvSpPr>
            <a:spLocks noGrp="1"/>
          </p:cNvSpPr>
          <p:nvPr/>
        </p:nvSpPr>
        <p:spPr>
          <a:xfrm>
            <a:off x="6381750" y="3733800"/>
            <a:ext cx="22002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Андрей</a:t>
            </a:r>
          </a:p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Виговский</a:t>
            </a:r>
          </a:p>
        </p:txBody>
      </p:sp>
      <p:sp>
        <p:nvSpPr>
          <p:cNvPr id="15" name="3D-художник&#10;и дизайнер уровней">
            <a:extLst>
              <a:ext uri="{FF2B5EF4-FFF2-40B4-BE49-F238E27FC236}">
                <a16:creationId xmlns:a16="http://schemas.microsoft.com/office/drawing/2014/main" id="{2371036F-9311-4034-BFAD-4141E6E51A69}"/>
              </a:ext>
            </a:extLst>
          </p:cNvPr>
          <p:cNvSpPr>
            <a:spLocks noGrp="1"/>
          </p:cNvSpPr>
          <p:nvPr/>
        </p:nvSpPr>
        <p:spPr>
          <a:xfrm>
            <a:off x="6328197" y="5798030"/>
            <a:ext cx="22002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lang="ru-RU" sz="1800" b="0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Сценарист и тестировщик</a:t>
            </a:r>
            <a:r>
              <a:rPr lang="en-US" sz="1800" b="0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, </a:t>
            </a:r>
            <a:r>
              <a:rPr lang="ru-RU" sz="1800" b="0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звукорежиссер</a:t>
            </a: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Место для фотографии Артем Артамонов">
            <a:extLst>
              <a:ext uri="{FF2B5EF4-FFF2-40B4-BE49-F238E27FC236}">
                <a16:creationId xmlns:a16="http://schemas.microsoft.com/office/drawing/2014/main" id="{2CB9879A-BECC-4462-8E7C-29E378F4B40E}"/>
              </a:ext>
            </a:extLst>
          </p:cNvPr>
          <p:cNvSpPr>
            <a:spLocks noGrp="1"/>
          </p:cNvSpPr>
          <p:nvPr/>
        </p:nvSpPr>
        <p:spPr>
          <a:xfrm>
            <a:off x="9001125" y="2019300"/>
            <a:ext cx="2505075" cy="3714750"/>
          </a:xfrm>
          <a:prstGeom prst="rect">
            <a:avLst/>
          </a:prstGeom>
          <a:solidFill>
            <a:srgbClr val="E2E7E4"/>
          </a:solidFill>
          <a:ln w="9525">
            <a:solidFill>
              <a:srgbClr val="C6D0CB"/>
            </a:solidFill>
          </a:ln>
        </p:spPr>
      </p:sp>
      <p:sp>
        <p:nvSpPr>
          <p:cNvPr id="17" name="Место для фото">
            <a:extLst>
              <a:ext uri="{FF2B5EF4-FFF2-40B4-BE49-F238E27FC236}">
                <a16:creationId xmlns:a16="http://schemas.microsoft.com/office/drawing/2014/main" id="{96B22463-0638-4241-81A8-77F10CE4FDEB}"/>
              </a:ext>
            </a:extLst>
          </p:cNvPr>
          <p:cNvSpPr>
            <a:spLocks noGrp="1"/>
          </p:cNvSpPr>
          <p:nvPr/>
        </p:nvSpPr>
        <p:spPr>
          <a:xfrm>
            <a:off x="9153525" y="2343150"/>
            <a:ext cx="22002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Место для фото</a:t>
            </a:r>
          </a:p>
        </p:txBody>
      </p:sp>
      <p:sp>
        <p:nvSpPr>
          <p:cNvPr id="18" name="Артем&#10;Артамонов">
            <a:extLst>
              <a:ext uri="{FF2B5EF4-FFF2-40B4-BE49-F238E27FC236}">
                <a16:creationId xmlns:a16="http://schemas.microsoft.com/office/drawing/2014/main" id="{B6FE76F9-5213-4FDE-882F-4599A71E1D0B}"/>
              </a:ext>
            </a:extLst>
          </p:cNvPr>
          <p:cNvSpPr>
            <a:spLocks noGrp="1"/>
          </p:cNvSpPr>
          <p:nvPr/>
        </p:nvSpPr>
        <p:spPr>
          <a:xfrm>
            <a:off x="9153525" y="4820549"/>
            <a:ext cx="22002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 dirty="0" err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Артем</a:t>
            </a:r>
            <a:endParaRPr sz="2175" b="1" dirty="0">
              <a:solidFill>
                <a:srgbClr val="173A3D"/>
              </a:solidFill>
              <a:latin typeface="Arial"/>
              <a:ea typeface="Arial"/>
              <a:cs typeface="Arial"/>
            </a:endParaRPr>
          </a:p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 dirty="0" err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Артамонов</a:t>
            </a:r>
            <a:endParaRPr sz="2175" b="1" dirty="0">
              <a:solidFill>
                <a:srgbClr val="173A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Звукорежиссёр&#10;и тестировщик">
            <a:extLst>
              <a:ext uri="{FF2B5EF4-FFF2-40B4-BE49-F238E27FC236}">
                <a16:creationId xmlns:a16="http://schemas.microsoft.com/office/drawing/2014/main" id="{EB1DE8B3-711F-4708-BF1B-0077CA20AB6B}"/>
              </a:ext>
            </a:extLst>
          </p:cNvPr>
          <p:cNvSpPr>
            <a:spLocks noGrp="1"/>
          </p:cNvSpPr>
          <p:nvPr/>
        </p:nvSpPr>
        <p:spPr>
          <a:xfrm>
            <a:off x="9077325" y="5887349"/>
            <a:ext cx="22002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lang="en-US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3D-</a:t>
            </a:r>
            <a:r>
              <a:rPr lang="ru-RU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художник</a:t>
            </a:r>
          </a:p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lang="ru-RU" dirty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дизайнер уровней</a:t>
            </a:r>
          </a:p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8B0DECF-FA9A-FBB9-6632-6FEECAA02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572" y="2019300"/>
            <a:ext cx="2505075" cy="2743200"/>
          </a:xfrm>
          <a:prstGeom prst="rect">
            <a:avLst/>
          </a:prstGeom>
        </p:spPr>
      </p:pic>
      <p:sp>
        <p:nvSpPr>
          <p:cNvPr id="24" name="Программист&#10;игровых механик">
            <a:extLst>
              <a:ext uri="{FF2B5EF4-FFF2-40B4-BE49-F238E27FC236}">
                <a16:creationId xmlns:a16="http://schemas.microsoft.com/office/drawing/2014/main" id="{3B0A8C86-B7F2-0ED8-29F4-C1E10DC433D0}"/>
              </a:ext>
            </a:extLst>
          </p:cNvPr>
          <p:cNvSpPr>
            <a:spLocks noGrp="1"/>
          </p:cNvSpPr>
          <p:nvPr/>
        </p:nvSpPr>
        <p:spPr>
          <a:xfrm>
            <a:off x="3609973" y="4894053"/>
            <a:ext cx="2200275" cy="7066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Программист&#10;игровых механик">
            <a:extLst>
              <a:ext uri="{FF2B5EF4-FFF2-40B4-BE49-F238E27FC236}">
                <a16:creationId xmlns:a16="http://schemas.microsoft.com/office/drawing/2014/main" id="{D6B18E50-B3C4-8EFD-4A35-7E90FD9893DA}"/>
              </a:ext>
            </a:extLst>
          </p:cNvPr>
          <p:cNvSpPr>
            <a:spLocks noGrp="1"/>
          </p:cNvSpPr>
          <p:nvPr/>
        </p:nvSpPr>
        <p:spPr>
          <a:xfrm>
            <a:off x="6381750" y="4871408"/>
            <a:ext cx="2301993" cy="86264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Андрей</a:t>
            </a:r>
          </a:p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Виговский</a:t>
            </a:r>
          </a:p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466FC5E-7F06-264B-01CF-620E62E53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9" y="2019300"/>
            <a:ext cx="2505069" cy="2743200"/>
          </a:xfrm>
          <a:prstGeom prst="rect">
            <a:avLst/>
          </a:prstGeom>
        </p:spPr>
      </p:pic>
      <p:sp>
        <p:nvSpPr>
          <p:cNvPr id="34" name="Программист&#10;игровых механик">
            <a:extLst>
              <a:ext uri="{FF2B5EF4-FFF2-40B4-BE49-F238E27FC236}">
                <a16:creationId xmlns:a16="http://schemas.microsoft.com/office/drawing/2014/main" id="{6330C1EE-FDD3-713A-7BE6-784E8273F85A}"/>
              </a:ext>
            </a:extLst>
          </p:cNvPr>
          <p:cNvSpPr>
            <a:spLocks noGrp="1"/>
          </p:cNvSpPr>
          <p:nvPr/>
        </p:nvSpPr>
        <p:spPr>
          <a:xfrm>
            <a:off x="792192" y="4857750"/>
            <a:ext cx="2301993" cy="82418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Влад</a:t>
            </a:r>
          </a:p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Людкевич</a:t>
            </a:r>
          </a:p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8689DD66-4EB6-50E4-336B-8FE050323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44" y="2019299"/>
            <a:ext cx="2505069" cy="2743201"/>
          </a:xfrm>
          <a:prstGeom prst="rect">
            <a:avLst/>
          </a:prstGeom>
        </p:spPr>
      </p:pic>
      <p:sp>
        <p:nvSpPr>
          <p:cNvPr id="38" name="Программист&#10;игровых механик">
            <a:extLst>
              <a:ext uri="{FF2B5EF4-FFF2-40B4-BE49-F238E27FC236}">
                <a16:creationId xmlns:a16="http://schemas.microsoft.com/office/drawing/2014/main" id="{76AFBB28-0C3E-B925-34F5-3AF449E6D358}"/>
              </a:ext>
            </a:extLst>
          </p:cNvPr>
          <p:cNvSpPr>
            <a:spLocks noGrp="1"/>
          </p:cNvSpPr>
          <p:nvPr/>
        </p:nvSpPr>
        <p:spPr>
          <a:xfrm>
            <a:off x="3609973" y="4871409"/>
            <a:ext cx="2301993" cy="86264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Костя</a:t>
            </a:r>
          </a:p>
          <a:p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Котельников</a:t>
            </a:r>
          </a:p>
          <a:p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33494A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4EBD4A6-9FB7-8107-C54F-6C59EEF589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110" y="2018043"/>
            <a:ext cx="250506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82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Концепция и идея">
            <a:extLst>
              <a:ext uri="{FF2B5EF4-FFF2-40B4-BE49-F238E27FC236}">
                <a16:creationId xmlns:a16="http://schemas.microsoft.com/office/drawing/2014/main" id="{6ECA602C-1717-4C1A-8CB4-7D5DCE3AEF73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Концепция и идея</a:t>
            </a:r>
          </a:p>
        </p:txBody>
      </p:sp>
      <p:sp>
        <p:nvSpPr>
          <p:cNvPr id="2" name="03">
            <a:extLst>
              <a:ext uri="{FF2B5EF4-FFF2-40B4-BE49-F238E27FC236}">
                <a16:creationId xmlns:a16="http://schemas.microsoft.com/office/drawing/2014/main" id="{E43AA9C0-2974-4997-B71D-A79BC562321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«Смотритель маяка»">
            <a:extLst>
              <a:ext uri="{FF2B5EF4-FFF2-40B4-BE49-F238E27FC236}">
                <a16:creationId xmlns:a16="http://schemas.microsoft.com/office/drawing/2014/main" id="{87B0F60B-AD91-4915-904D-59E0B26C8FE3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«Смотритель маяка»</a:t>
            </a:r>
          </a:p>
        </p:txBody>
      </p:sp>
      <p:sp>
        <p:nvSpPr>
          <p:cNvPr id="4" name="Жанр">
            <a:extLst>
              <a:ext uri="{FF2B5EF4-FFF2-40B4-BE49-F238E27FC236}">
                <a16:creationId xmlns:a16="http://schemas.microsoft.com/office/drawing/2014/main" id="{E836EAEE-3C1D-4D07-AD49-54842E6E55BD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Жанр</a:t>
            </a:r>
          </a:p>
        </p:txBody>
      </p:sp>
      <p:sp>
        <p:nvSpPr>
          <p:cNvPr id="5" name="Survival horror с крафтом&#10;и строительством">
            <a:extLst>
              <a:ext uri="{FF2B5EF4-FFF2-40B4-BE49-F238E27FC236}">
                <a16:creationId xmlns:a16="http://schemas.microsoft.com/office/drawing/2014/main" id="{2462EEE6-F0B8-4643-8ABE-5F443FBF344B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4762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Survival horror с крафтом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строительством</a:t>
            </a:r>
          </a:p>
        </p:txBody>
      </p:sp>
      <p:sp>
        <p:nvSpPr>
          <p:cNvPr id="6" name="Камера">
            <a:extLst>
              <a:ext uri="{FF2B5EF4-FFF2-40B4-BE49-F238E27FC236}">
                <a16:creationId xmlns:a16="http://schemas.microsoft.com/office/drawing/2014/main" id="{FFF74C3F-910C-49F2-B166-5EB9BD4B966B}"/>
              </a:ext>
            </a:extLst>
          </p:cNvPr>
          <p:cNvSpPr>
            <a:spLocks noGrp="1"/>
          </p:cNvSpPr>
          <p:nvPr/>
        </p:nvSpPr>
        <p:spPr>
          <a:xfrm>
            <a:off x="6477000" y="257175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Камера</a:t>
            </a:r>
          </a:p>
        </p:txBody>
      </p:sp>
      <p:sp>
        <p:nvSpPr>
          <p:cNvPr id="7" name="Изометрический вид сверху&#10;в объёмной 3D-сцене">
            <a:extLst>
              <a:ext uri="{FF2B5EF4-FFF2-40B4-BE49-F238E27FC236}">
                <a16:creationId xmlns:a16="http://schemas.microsoft.com/office/drawing/2014/main" id="{0599010C-9C7D-4705-9F3D-5B9EB614FD0C}"/>
              </a:ext>
            </a:extLst>
          </p:cNvPr>
          <p:cNvSpPr>
            <a:spLocks noGrp="1"/>
          </p:cNvSpPr>
          <p:nvPr/>
        </p:nvSpPr>
        <p:spPr>
          <a:xfrm>
            <a:off x="6477000" y="3028950"/>
            <a:ext cx="4762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Изометрический вид сверху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в объёмной 3D-сцене</a:t>
            </a:r>
          </a:p>
        </p:txBody>
      </p:sp>
      <p:sp>
        <p:nvSpPr>
          <p:cNvPr id="8" name="Место действия">
            <a:extLst>
              <a:ext uri="{FF2B5EF4-FFF2-40B4-BE49-F238E27FC236}">
                <a16:creationId xmlns:a16="http://schemas.microsoft.com/office/drawing/2014/main" id="{78C13FA4-CE18-47A6-B145-6E483202ED40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Место действия</a:t>
            </a:r>
          </a:p>
        </p:txBody>
      </p:sp>
      <p:sp>
        <p:nvSpPr>
          <p:cNvPr id="9" name="Небольшой остров с маяком,&#10;хижиной, лесом и пляжем">
            <a:extLst>
              <a:ext uri="{FF2B5EF4-FFF2-40B4-BE49-F238E27FC236}">
                <a16:creationId xmlns:a16="http://schemas.microsoft.com/office/drawing/2014/main" id="{919A7797-CA6A-494F-90E7-E06695DD3F88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4762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Небольшой остров с маяком,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хижиной, лесом и пляжем</a:t>
            </a:r>
          </a:p>
        </p:txBody>
      </p:sp>
      <p:sp>
        <p:nvSpPr>
          <p:cNvPr id="10" name="Цель игрока">
            <a:extLst>
              <a:ext uri="{FF2B5EF4-FFF2-40B4-BE49-F238E27FC236}">
                <a16:creationId xmlns:a16="http://schemas.microsoft.com/office/drawing/2014/main" id="{53F4B88E-69A4-4DB0-8DBD-E697A2EF751E}"/>
              </a:ext>
            </a:extLst>
          </p:cNvPr>
          <p:cNvSpPr>
            <a:spLocks noGrp="1"/>
          </p:cNvSpPr>
          <p:nvPr/>
        </p:nvSpPr>
        <p:spPr>
          <a:xfrm>
            <a:off x="6477000" y="41910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Цель игрока</a:t>
            </a:r>
          </a:p>
        </p:txBody>
      </p:sp>
      <p:sp>
        <p:nvSpPr>
          <p:cNvPr id="11" name="Продержаться 30 игровых дней&#10;и поддерживать работу маяка">
            <a:extLst>
              <a:ext uri="{FF2B5EF4-FFF2-40B4-BE49-F238E27FC236}">
                <a16:creationId xmlns:a16="http://schemas.microsoft.com/office/drawing/2014/main" id="{BBBC5B31-5ED6-4652-94F9-B77BD5DF48B3}"/>
              </a:ext>
            </a:extLst>
          </p:cNvPr>
          <p:cNvSpPr>
            <a:spLocks noGrp="1"/>
          </p:cNvSpPr>
          <p:nvPr/>
        </p:nvSpPr>
        <p:spPr>
          <a:xfrm>
            <a:off x="6477000" y="4648200"/>
            <a:ext cx="4762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Продержаться 30 игровых дней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поддерживать работу маяка</a:t>
            </a:r>
          </a:p>
        </p:txBody>
      </p:sp>
    </p:spTree>
    <p:extLst>
      <p:ext uri="{BB962C8B-B14F-4D97-AF65-F5344CB8AC3E}">
        <p14:creationId xmlns:p14="http://schemas.microsoft.com/office/powerpoint/2010/main" val="389715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Игровой процесс">
            <a:extLst>
              <a:ext uri="{FF2B5EF4-FFF2-40B4-BE49-F238E27FC236}">
                <a16:creationId xmlns:a16="http://schemas.microsoft.com/office/drawing/2014/main" id="{53CA346F-707F-4876-BE07-67E79029C0D2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Игровой процесс</a:t>
            </a:r>
          </a:p>
        </p:txBody>
      </p:sp>
      <p:sp>
        <p:nvSpPr>
          <p:cNvPr id="2" name="04">
            <a:extLst>
              <a:ext uri="{FF2B5EF4-FFF2-40B4-BE49-F238E27FC236}">
                <a16:creationId xmlns:a16="http://schemas.microsoft.com/office/drawing/2014/main" id="{75CE548F-2D32-4AB3-924F-FC97F67505C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01">
            <a:extLst>
              <a:ext uri="{FF2B5EF4-FFF2-40B4-BE49-F238E27FC236}">
                <a16:creationId xmlns:a16="http://schemas.microsoft.com/office/drawing/2014/main" id="{2891D5CC-A071-491A-BEB3-3DC9E803A1DF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День">
            <a:extLst>
              <a:ext uri="{FF2B5EF4-FFF2-40B4-BE49-F238E27FC236}">
                <a16:creationId xmlns:a16="http://schemas.microsoft.com/office/drawing/2014/main" id="{DD41517C-2CAD-4D72-8DA0-C0BB02777670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1619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День</a:t>
            </a:r>
          </a:p>
        </p:txBody>
      </p:sp>
      <p:sp>
        <p:nvSpPr>
          <p:cNvPr id="5" name="Сбор ресурсов, рыбалка и задания">
            <a:extLst>
              <a:ext uri="{FF2B5EF4-FFF2-40B4-BE49-F238E27FC236}">
                <a16:creationId xmlns:a16="http://schemas.microsoft.com/office/drawing/2014/main" id="{A5E78441-7F45-4605-B86D-06B8FADF096C}"/>
              </a:ext>
            </a:extLst>
          </p:cNvPr>
          <p:cNvSpPr>
            <a:spLocks noGrp="1"/>
          </p:cNvSpPr>
          <p:nvPr/>
        </p:nvSpPr>
        <p:spPr>
          <a:xfrm>
            <a:off x="3619500" y="1695450"/>
            <a:ext cx="7810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Сбор ресурсов, рыбалка и задания</a:t>
            </a:r>
          </a:p>
        </p:txBody>
      </p:sp>
      <p:sp>
        <p:nvSpPr>
          <p:cNvPr id="6" name="02">
            <a:extLst>
              <a:ext uri="{FF2B5EF4-FFF2-40B4-BE49-F238E27FC236}">
                <a16:creationId xmlns:a16="http://schemas.microsoft.com/office/drawing/2014/main" id="{48CFED12-9226-4063-8BB3-EEA84BA48038}"/>
              </a:ext>
            </a:extLst>
          </p:cNvPr>
          <p:cNvSpPr>
            <a:spLocks noGrp="1"/>
          </p:cNvSpPr>
          <p:nvPr/>
        </p:nvSpPr>
        <p:spPr>
          <a:xfrm>
            <a:off x="685800" y="2600325"/>
            <a:ext cx="723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Вечер">
            <a:extLst>
              <a:ext uri="{FF2B5EF4-FFF2-40B4-BE49-F238E27FC236}">
                <a16:creationId xmlns:a16="http://schemas.microsoft.com/office/drawing/2014/main" id="{25DE1463-AAC9-44C1-B820-9E8CFE13578E}"/>
              </a:ext>
            </a:extLst>
          </p:cNvPr>
          <p:cNvSpPr>
            <a:spLocks noGrp="1"/>
          </p:cNvSpPr>
          <p:nvPr/>
        </p:nvSpPr>
        <p:spPr>
          <a:xfrm>
            <a:off x="1752600" y="2600325"/>
            <a:ext cx="1619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Вечер</a:t>
            </a:r>
          </a:p>
        </p:txBody>
      </p:sp>
      <p:sp>
        <p:nvSpPr>
          <p:cNvPr id="8" name="Приготовление еды и обслуживание маяка">
            <a:extLst>
              <a:ext uri="{FF2B5EF4-FFF2-40B4-BE49-F238E27FC236}">
                <a16:creationId xmlns:a16="http://schemas.microsoft.com/office/drawing/2014/main" id="{D44D90CA-B5F9-4185-BC83-148A3C619FCF}"/>
              </a:ext>
            </a:extLst>
          </p:cNvPr>
          <p:cNvSpPr>
            <a:spLocks noGrp="1"/>
          </p:cNvSpPr>
          <p:nvPr/>
        </p:nvSpPr>
        <p:spPr>
          <a:xfrm>
            <a:off x="3619500" y="2619375"/>
            <a:ext cx="7810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Приготовление еды и обслуживание маяка</a:t>
            </a:r>
          </a:p>
        </p:txBody>
      </p:sp>
      <p:sp>
        <p:nvSpPr>
          <p:cNvPr id="9" name="03">
            <a:extLst>
              <a:ext uri="{FF2B5EF4-FFF2-40B4-BE49-F238E27FC236}">
                <a16:creationId xmlns:a16="http://schemas.microsoft.com/office/drawing/2014/main" id="{F50AE862-6F35-44BF-BC4A-2917637E31BE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723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Ночь">
            <a:extLst>
              <a:ext uri="{FF2B5EF4-FFF2-40B4-BE49-F238E27FC236}">
                <a16:creationId xmlns:a16="http://schemas.microsoft.com/office/drawing/2014/main" id="{4E1F43AC-5195-44B8-B345-A46AD290711A}"/>
              </a:ext>
            </a:extLst>
          </p:cNvPr>
          <p:cNvSpPr>
            <a:spLocks noGrp="1"/>
          </p:cNvSpPr>
          <p:nvPr/>
        </p:nvSpPr>
        <p:spPr>
          <a:xfrm>
            <a:off x="1752600" y="3524250"/>
            <a:ext cx="1619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Ночь</a:t>
            </a:r>
          </a:p>
        </p:txBody>
      </p:sp>
      <p:sp>
        <p:nvSpPr>
          <p:cNvPr id="11" name="Укрытие, защита от существ и поиск безопасного пути">
            <a:extLst>
              <a:ext uri="{FF2B5EF4-FFF2-40B4-BE49-F238E27FC236}">
                <a16:creationId xmlns:a16="http://schemas.microsoft.com/office/drawing/2014/main" id="{BF9F76F1-309A-43DE-BF83-4A103F461FA6}"/>
              </a:ext>
            </a:extLst>
          </p:cNvPr>
          <p:cNvSpPr>
            <a:spLocks noGrp="1"/>
          </p:cNvSpPr>
          <p:nvPr/>
        </p:nvSpPr>
        <p:spPr>
          <a:xfrm>
            <a:off x="3619500" y="3543300"/>
            <a:ext cx="7810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Укрытие, защита от существ и поиск безопасного пути</a:t>
            </a:r>
          </a:p>
        </p:txBody>
      </p:sp>
      <p:sp>
        <p:nvSpPr>
          <p:cNvPr id="12" name="04">
            <a:extLst>
              <a:ext uri="{FF2B5EF4-FFF2-40B4-BE49-F238E27FC236}">
                <a16:creationId xmlns:a16="http://schemas.microsoft.com/office/drawing/2014/main" id="{83BF4362-A9E0-42BF-A6B3-CDE5E0CFF64A}"/>
              </a:ext>
            </a:extLst>
          </p:cNvPr>
          <p:cNvSpPr>
            <a:spLocks noGrp="1"/>
          </p:cNvSpPr>
          <p:nvPr/>
        </p:nvSpPr>
        <p:spPr>
          <a:xfrm>
            <a:off x="685800" y="4448175"/>
            <a:ext cx="723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Утро">
            <a:extLst>
              <a:ext uri="{FF2B5EF4-FFF2-40B4-BE49-F238E27FC236}">
                <a16:creationId xmlns:a16="http://schemas.microsoft.com/office/drawing/2014/main" id="{BD8323E3-EB25-4844-AABB-9C886FC082ED}"/>
              </a:ext>
            </a:extLst>
          </p:cNvPr>
          <p:cNvSpPr>
            <a:spLocks noGrp="1"/>
          </p:cNvSpPr>
          <p:nvPr/>
        </p:nvSpPr>
        <p:spPr>
          <a:xfrm>
            <a:off x="1752600" y="4448175"/>
            <a:ext cx="1619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Утро</a:t>
            </a:r>
          </a:p>
        </p:txBody>
      </p:sp>
      <p:sp>
        <p:nvSpPr>
          <p:cNvPr id="14" name="Новые задания и улучшение своего убежища">
            <a:extLst>
              <a:ext uri="{FF2B5EF4-FFF2-40B4-BE49-F238E27FC236}">
                <a16:creationId xmlns:a16="http://schemas.microsoft.com/office/drawing/2014/main" id="{1A74C3D0-1EEE-44E2-A68E-90DD53948500}"/>
              </a:ext>
            </a:extLst>
          </p:cNvPr>
          <p:cNvSpPr>
            <a:spLocks noGrp="1"/>
          </p:cNvSpPr>
          <p:nvPr/>
        </p:nvSpPr>
        <p:spPr>
          <a:xfrm>
            <a:off x="3619500" y="4467225"/>
            <a:ext cx="7810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Новые задания и улучшение своего убежища</a:t>
            </a:r>
          </a:p>
        </p:txBody>
      </p:sp>
      <p:sp>
        <p:nvSpPr>
          <p:cNvPr id="15" name="Пример задания: принести топливо с берега и включить маяк до заката.">
            <a:extLst>
              <a:ext uri="{FF2B5EF4-FFF2-40B4-BE49-F238E27FC236}">
                <a16:creationId xmlns:a16="http://schemas.microsoft.com/office/drawing/2014/main" id="{B0052A49-6390-49BE-ACBA-B70BFF611A85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Пример задания: принести топливо с берега и включить маяк до заката.</a:t>
            </a:r>
          </a:p>
        </p:txBody>
      </p:sp>
    </p:spTree>
    <p:extLst>
      <p:ext uri="{BB962C8B-B14F-4D97-AF65-F5344CB8AC3E}">
        <p14:creationId xmlns:p14="http://schemas.microsoft.com/office/powerpoint/2010/main" val="416663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Визуальный стиль и звук">
            <a:extLst>
              <a:ext uri="{FF2B5EF4-FFF2-40B4-BE49-F238E27FC236}">
                <a16:creationId xmlns:a16="http://schemas.microsoft.com/office/drawing/2014/main" id="{5534D2D8-489D-412A-8059-0EFE48D3CDBE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Визуальный стиль и звук</a:t>
            </a:r>
          </a:p>
        </p:txBody>
      </p:sp>
      <p:sp>
        <p:nvSpPr>
          <p:cNvPr id="2" name="05">
            <a:extLst>
              <a:ext uri="{FF2B5EF4-FFF2-40B4-BE49-F238E27FC236}">
                <a16:creationId xmlns:a16="http://schemas.microsoft.com/office/drawing/2014/main" id="{14692C2C-4F4E-404F-A7AF-11F9385BE6E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Визуальный стиль">
            <a:extLst>
              <a:ext uri="{FF2B5EF4-FFF2-40B4-BE49-F238E27FC236}">
                <a16:creationId xmlns:a16="http://schemas.microsoft.com/office/drawing/2014/main" id="{9433CCC3-EA61-4DA9-AD0B-1E539519930E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5095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Визуальный стиль</a:t>
            </a:r>
          </a:p>
        </p:txBody>
      </p:sp>
      <p:sp>
        <p:nvSpPr>
          <p:cNvPr id="4" name="Простые 3D-модели и изометрия.&#10;Приглушённые цвета моря и леса.&#10;Тёплый ">
            <a:extLst>
              <a:ext uri="{FF2B5EF4-FFF2-40B4-BE49-F238E27FC236}">
                <a16:creationId xmlns:a16="http://schemas.microsoft.com/office/drawing/2014/main" id="{AB443DCB-B191-44DD-ACB1-6F76829928CF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5095875" cy="1257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Простые 3D-модели и изометрия.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Приглушённые цвета моря и леса.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Тёплый свет маяка среди темноты.</a:t>
            </a:r>
          </a:p>
        </p:txBody>
      </p:sp>
      <p:sp>
        <p:nvSpPr>
          <p:cNvPr id="5" name="Звуковая атмосфера">
            <a:extLst>
              <a:ext uri="{FF2B5EF4-FFF2-40B4-BE49-F238E27FC236}">
                <a16:creationId xmlns:a16="http://schemas.microsoft.com/office/drawing/2014/main" id="{524F68F8-6172-4990-93B8-8E4668C48D87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5095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Звуковая атмосфера</a:t>
            </a:r>
          </a:p>
        </p:txBody>
      </p:sp>
      <p:sp>
        <p:nvSpPr>
          <p:cNvPr id="6" name="Шум волн, ветер и скрип досок.&#10;Редкая фоновая музыка.&#10;Ночью: шаги, шор">
            <a:extLst>
              <a:ext uri="{FF2B5EF4-FFF2-40B4-BE49-F238E27FC236}">
                <a16:creationId xmlns:a16="http://schemas.microsoft.com/office/drawing/2014/main" id="{0F9E3687-1090-4802-9FC5-584EFCC83C32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5095875" cy="1362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Шум волн, ветер и скрип досок.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Редкая фоновая музыка.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Ночью: шаги, шорохи и далёкие голоса.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06608" y="1695450"/>
            <a:ext cx="5198533" cy="2924175"/>
          </a:xfrm>
          <a:prstGeom prst="rect">
            <a:avLst/>
          </a:prstGeom>
        </p:spPr>
      </p:pic>
      <p:sp>
        <p:nvSpPr>
          <p:cNvPr id="8" name="Референс атмосферы: DREDGE">
            <a:extLst>
              <a:ext uri="{FF2B5EF4-FFF2-40B4-BE49-F238E27FC236}">
                <a16:creationId xmlns:a16="http://schemas.microsoft.com/office/drawing/2014/main" id="{921CA27D-BF17-4606-BF16-997FC481D51B}"/>
              </a:ext>
            </a:extLst>
          </p:cNvPr>
          <p:cNvSpPr>
            <a:spLocks noGrp="1"/>
          </p:cNvSpPr>
          <p:nvPr/>
        </p:nvSpPr>
        <p:spPr>
          <a:xfrm>
            <a:off x="6304491" y="4814887"/>
            <a:ext cx="52006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 dirty="0" err="1">
                <a:solidFill>
                  <a:srgbClr val="647777"/>
                </a:solidFill>
                <a:latin typeface="Arial"/>
                <a:ea typeface="Arial"/>
                <a:cs typeface="Arial"/>
              </a:rPr>
              <a:t>Референс</a:t>
            </a:r>
            <a:r>
              <a:rPr sz="1650" b="0" dirty="0">
                <a:solidFill>
                  <a:srgbClr val="647777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647777"/>
                </a:solidFill>
                <a:latin typeface="Arial"/>
                <a:ea typeface="Arial"/>
                <a:cs typeface="Arial"/>
              </a:rPr>
              <a:t>атмосферы</a:t>
            </a:r>
            <a:r>
              <a:rPr sz="1650" b="0" dirty="0">
                <a:solidFill>
                  <a:srgbClr val="647777"/>
                </a:solidFill>
                <a:latin typeface="Arial"/>
                <a:ea typeface="Arial"/>
                <a:cs typeface="Arial"/>
              </a:rPr>
              <a:t>: DREDGE</a:t>
            </a:r>
          </a:p>
        </p:txBody>
      </p:sp>
      <p:sp>
        <p:nvSpPr>
          <p:cNvPr id="9" name="По мере развития сюжета цвет&#10;и звук будут становиться тревожнее.">
            <a:extLst>
              <a:ext uri="{FF2B5EF4-FFF2-40B4-BE49-F238E27FC236}">
                <a16:creationId xmlns:a16="http://schemas.microsoft.com/office/drawing/2014/main" id="{8E655DFE-065F-46C0-978F-BB6CA84005FB}"/>
              </a:ext>
            </a:extLst>
          </p:cNvPr>
          <p:cNvSpPr>
            <a:spLocks noGrp="1"/>
          </p:cNvSpPr>
          <p:nvPr/>
        </p:nvSpPr>
        <p:spPr>
          <a:xfrm>
            <a:off x="6305550" y="5353050"/>
            <a:ext cx="52006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По мере развития сюжета цвет</a:t>
            </a:r>
          </a:p>
          <a:p>
            <a:pPr algn="l">
              <a:defRPr sz="18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и звук будут становиться тревожнее.</a:t>
            </a:r>
          </a:p>
        </p:txBody>
      </p:sp>
    </p:spTree>
    <p:extLst>
      <p:ext uri="{BB962C8B-B14F-4D97-AF65-F5344CB8AC3E}">
        <p14:creationId xmlns:p14="http://schemas.microsoft.com/office/powerpoint/2010/main" val="1585728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Игровые референсы">
            <a:extLst>
              <a:ext uri="{FF2B5EF4-FFF2-40B4-BE49-F238E27FC236}">
                <a16:creationId xmlns:a16="http://schemas.microsoft.com/office/drawing/2014/main" id="{EAE4532E-78B4-44CB-B17F-801656DFECD1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Игровые референсы</a:t>
            </a:r>
          </a:p>
        </p:txBody>
      </p:sp>
      <p:sp>
        <p:nvSpPr>
          <p:cNvPr id="2" name="06">
            <a:extLst>
              <a:ext uri="{FF2B5EF4-FFF2-40B4-BE49-F238E27FC236}">
                <a16:creationId xmlns:a16="http://schemas.microsoft.com/office/drawing/2014/main" id="{80F1E3A5-078D-49C0-850D-E3E79B66F4A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Project Zomboid">
            <a:extLst>
              <a:ext uri="{FF2B5EF4-FFF2-40B4-BE49-F238E27FC236}">
                <a16:creationId xmlns:a16="http://schemas.microsoft.com/office/drawing/2014/main" id="{7A6A6728-DCFA-4AE2-9B50-DA59A733A002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4476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Project Zomboid</a:t>
            </a:r>
          </a:p>
        </p:txBody>
      </p:sp>
      <p:sp>
        <p:nvSpPr>
          <p:cNvPr id="4" name="Изометрическая камера.&#10;Сбор ресурсов и крафт.&#10;Бытовые задачи ради выжи">
            <a:extLst>
              <a:ext uri="{FF2B5EF4-FFF2-40B4-BE49-F238E27FC236}">
                <a16:creationId xmlns:a16="http://schemas.microsoft.com/office/drawing/2014/main" id="{12020AB6-4B0B-4C23-B147-300E228AC2AA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447675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Изометрическая камера.</a:t>
            </a:r>
          </a:p>
          <a:p>
            <a: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Сбор ресурсов и крафт.</a:t>
            </a:r>
          </a:p>
          <a:p>
            <a: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Бытовые задачи ради выживания.</a:t>
            </a:r>
          </a:p>
          <a:p>
            <a: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Укрепление убежища.</a:t>
            </a:r>
          </a:p>
        </p:txBody>
      </p:sp>
      <p:sp>
        <p:nvSpPr>
          <p:cNvPr id="5" name="Дополнительные ориентиры">
            <a:extLst>
              <a:ext uri="{FF2B5EF4-FFF2-40B4-BE49-F238E27FC236}">
                <a16:creationId xmlns:a16="http://schemas.microsoft.com/office/drawing/2014/main" id="{515BF36C-96A8-4EA6-ABA6-9A5C28003DF9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Дополнительные ориентиры</a:t>
            </a:r>
          </a:p>
        </p:txBody>
      </p:sp>
      <p:sp>
        <p:nvSpPr>
          <p:cNvPr id="6" name="Darkwood: подготовка к опасной ночи.&#10;DREDGE: море и нарастающая тревог">
            <a:extLst>
              <a:ext uri="{FF2B5EF4-FFF2-40B4-BE49-F238E27FC236}">
                <a16:creationId xmlns:a16="http://schemas.microsoft.com/office/drawing/2014/main" id="{6928FC83-ADB0-4682-9243-103454F9E62E}"/>
              </a:ext>
            </a:extLst>
          </p:cNvPr>
          <p:cNvSpPr>
            <a:spLocks noGrp="1"/>
          </p:cNvSpPr>
          <p:nvPr/>
        </p:nvSpPr>
        <p:spPr>
          <a:xfrm>
            <a:off x="685800" y="5038725"/>
            <a:ext cx="4857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Darkwood: подготовка к опасной ночи.</a:t>
            </a:r>
          </a:p>
          <a:p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DREDGE: море и нарастающая тревога.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81650" y="1834966"/>
            <a:ext cx="5924550" cy="3169017"/>
          </a:xfrm>
          <a:prstGeom prst="rect">
            <a:avLst/>
          </a:prstGeom>
        </p:spPr>
      </p:pic>
      <p:sp>
        <p:nvSpPr>
          <p:cNvPr id="8" name="Project Zomboid, The Indie Stone">
            <a:extLst>
              <a:ext uri="{FF2B5EF4-FFF2-40B4-BE49-F238E27FC236}">
                <a16:creationId xmlns:a16="http://schemas.microsoft.com/office/drawing/2014/main" id="{A7797AB5-B465-43D1-B5C4-EFA4F06923B6}"/>
              </a:ext>
            </a:extLst>
          </p:cNvPr>
          <p:cNvSpPr>
            <a:spLocks noGrp="1"/>
          </p:cNvSpPr>
          <p:nvPr/>
        </p:nvSpPr>
        <p:spPr>
          <a:xfrm>
            <a:off x="5581650" y="5257800"/>
            <a:ext cx="59245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Project Zomboid, The Indie Stone</a:t>
            </a:r>
          </a:p>
        </p:txBody>
      </p:sp>
    </p:spTree>
    <p:extLst>
      <p:ext uri="{BB962C8B-B14F-4D97-AF65-F5344CB8AC3E}">
        <p14:creationId xmlns:p14="http://schemas.microsoft.com/office/powerpoint/2010/main" val="943547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еференсы по визуалу">
            <a:extLst>
              <a:ext uri="{FF2B5EF4-FFF2-40B4-BE49-F238E27FC236}">
                <a16:creationId xmlns:a16="http://schemas.microsoft.com/office/drawing/2014/main" id="{04F8CE5C-4D5F-4FAA-A769-757504B87EDC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Референсы по визуалу</a:t>
            </a:r>
          </a:p>
        </p:txBody>
      </p:sp>
      <p:sp>
        <p:nvSpPr>
          <p:cNvPr id="2" name="07">
            <a:extLst>
              <a:ext uri="{FF2B5EF4-FFF2-40B4-BE49-F238E27FC236}">
                <a16:creationId xmlns:a16="http://schemas.microsoft.com/office/drawing/2014/main" id="{A5991019-AF7D-45D7-A374-7F4CF2884BD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20694"/>
            <a:ext cx="3467100" cy="1854537"/>
          </a:xfrm>
          <a:prstGeom prst="rect">
            <a:avLst/>
          </a:prstGeom>
        </p:spPr>
      </p:pic>
      <p:sp>
        <p:nvSpPr>
          <p:cNvPr id="4" name="Project Zomboid">
            <a:extLst>
              <a:ext uri="{FF2B5EF4-FFF2-40B4-BE49-F238E27FC236}">
                <a16:creationId xmlns:a16="http://schemas.microsoft.com/office/drawing/2014/main" id="{A0249390-AFED-40BF-B870-7CA586FAB26C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34671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Project Zomboid</a:t>
            </a:r>
          </a:p>
        </p:txBody>
      </p:sp>
      <p:sp>
        <p:nvSpPr>
          <p:cNvPr id="5" name="Изометрия и читаемые&#10;объёмные постройки.">
            <a:extLst>
              <a:ext uri="{FF2B5EF4-FFF2-40B4-BE49-F238E27FC236}">
                <a16:creationId xmlns:a16="http://schemas.microsoft.com/office/drawing/2014/main" id="{EEBF9980-DA66-46E0-A41A-833F045D3302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34671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Изометрия и читаемые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объёмные постройки.</a:t>
            </a: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62450" y="1772841"/>
            <a:ext cx="3467100" cy="1950244"/>
          </a:xfrm>
          <a:prstGeom prst="rect">
            <a:avLst/>
          </a:prstGeom>
        </p:spPr>
      </p:pic>
      <p:sp>
        <p:nvSpPr>
          <p:cNvPr id="7" name="DREDGE">
            <a:extLst>
              <a:ext uri="{FF2B5EF4-FFF2-40B4-BE49-F238E27FC236}">
                <a16:creationId xmlns:a16="http://schemas.microsoft.com/office/drawing/2014/main" id="{26481C8D-5065-4740-95D9-5FEC2CB468AE}"/>
              </a:ext>
            </a:extLst>
          </p:cNvPr>
          <p:cNvSpPr>
            <a:spLocks noGrp="1"/>
          </p:cNvSpPr>
          <p:nvPr/>
        </p:nvSpPr>
        <p:spPr>
          <a:xfrm>
            <a:off x="4362450" y="3981450"/>
            <a:ext cx="34671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DREDGE</a:t>
            </a:r>
          </a:p>
        </p:txBody>
      </p:sp>
      <p:sp>
        <p:nvSpPr>
          <p:cNvPr id="8" name="Маяк, острова и простые&#10;формы морского пейзажа.">
            <a:extLst>
              <a:ext uri="{FF2B5EF4-FFF2-40B4-BE49-F238E27FC236}">
                <a16:creationId xmlns:a16="http://schemas.microsoft.com/office/drawing/2014/main" id="{2A1FD9CC-1F83-4487-A0B7-6819845504BE}"/>
              </a:ext>
            </a:extLst>
          </p:cNvPr>
          <p:cNvSpPr>
            <a:spLocks noGrp="1"/>
          </p:cNvSpPr>
          <p:nvPr/>
        </p:nvSpPr>
        <p:spPr>
          <a:xfrm>
            <a:off x="4362450" y="4591050"/>
            <a:ext cx="34671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Маяк, острова и простые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формы морского пейзажа.</a:t>
            </a: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039100" y="1772841"/>
            <a:ext cx="3467100" cy="1950244"/>
          </a:xfrm>
          <a:prstGeom prst="rect">
            <a:avLst/>
          </a:prstGeom>
        </p:spPr>
      </p:pic>
      <p:sp>
        <p:nvSpPr>
          <p:cNvPr id="10" name="Darkwood">
            <a:extLst>
              <a:ext uri="{FF2B5EF4-FFF2-40B4-BE49-F238E27FC236}">
                <a16:creationId xmlns:a16="http://schemas.microsoft.com/office/drawing/2014/main" id="{EF9DE90C-F15E-4279-A4F6-7062CF547B91}"/>
              </a:ext>
            </a:extLst>
          </p:cNvPr>
          <p:cNvSpPr>
            <a:spLocks noGrp="1"/>
          </p:cNvSpPr>
          <p:nvPr/>
        </p:nvSpPr>
        <p:spPr>
          <a:xfrm>
            <a:off x="8039100" y="3981450"/>
            <a:ext cx="34671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Darkwood</a:t>
            </a:r>
          </a:p>
        </p:txBody>
      </p:sp>
      <p:sp>
        <p:nvSpPr>
          <p:cNvPr id="11" name="Ограниченный свет&#10;и плотная ночная тьма.">
            <a:extLst>
              <a:ext uri="{FF2B5EF4-FFF2-40B4-BE49-F238E27FC236}">
                <a16:creationId xmlns:a16="http://schemas.microsoft.com/office/drawing/2014/main" id="{2320F2CE-5B79-4DE9-8D09-D57688DBC808}"/>
              </a:ext>
            </a:extLst>
          </p:cNvPr>
          <p:cNvSpPr>
            <a:spLocks noGrp="1"/>
          </p:cNvSpPr>
          <p:nvPr/>
        </p:nvSpPr>
        <p:spPr>
          <a:xfrm>
            <a:off x="8039100" y="4591050"/>
            <a:ext cx="34671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Ограниченный свет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плотная ночная тьма.</a:t>
            </a:r>
          </a:p>
        </p:txBody>
      </p:sp>
      <p:sp>
        <p:nvSpPr>
          <p:cNvPr id="12" name="Наше направление: объёмная изометрия, прибрежный остров и выразительны">
            <a:extLst>
              <a:ext uri="{FF2B5EF4-FFF2-40B4-BE49-F238E27FC236}">
                <a16:creationId xmlns:a16="http://schemas.microsoft.com/office/drawing/2014/main" id="{44D0DC7B-E163-4CEB-BDCB-19B7CE97AC2B}"/>
              </a:ext>
            </a:extLst>
          </p:cNvPr>
          <p:cNvSpPr>
            <a:spLocks noGrp="1"/>
          </p:cNvSpPr>
          <p:nvPr/>
        </p:nvSpPr>
        <p:spPr>
          <a:xfrm>
            <a:off x="685800" y="585787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Наше направление: объёмная изометрия, прибрежный остров и выразительный свет.</a:t>
            </a:r>
          </a:p>
        </p:txBody>
      </p:sp>
    </p:spTree>
    <p:extLst>
      <p:ext uri="{BB962C8B-B14F-4D97-AF65-F5344CB8AC3E}">
        <p14:creationId xmlns:p14="http://schemas.microsoft.com/office/powerpoint/2010/main" val="1588855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Механики игры">
            <a:extLst>
              <a:ext uri="{FF2B5EF4-FFF2-40B4-BE49-F238E27FC236}">
                <a16:creationId xmlns:a16="http://schemas.microsoft.com/office/drawing/2014/main" id="{E2D319F2-5FFC-4B9C-A5A3-6325D5546DD3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Механики игры</a:t>
            </a:r>
          </a:p>
        </p:txBody>
      </p:sp>
      <p:sp>
        <p:nvSpPr>
          <p:cNvPr id="2" name="08">
            <a:extLst>
              <a:ext uri="{FF2B5EF4-FFF2-40B4-BE49-F238E27FC236}">
                <a16:creationId xmlns:a16="http://schemas.microsoft.com/office/drawing/2014/main" id="{F0E0EB05-52B5-4D65-A484-92A07C475EA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Выживание">
            <a:extLst>
              <a:ext uri="{FF2B5EF4-FFF2-40B4-BE49-F238E27FC236}">
                <a16:creationId xmlns:a16="http://schemas.microsoft.com/office/drawing/2014/main" id="{ADC13C8D-7454-48C4-B89B-44D4324C0DC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Выживание</a:t>
            </a:r>
          </a:p>
        </p:txBody>
      </p:sp>
      <p:sp>
        <p:nvSpPr>
          <p:cNvPr id="4" name="Здоровье, голод и усталость.&#10;Запасы нужно пополнять каждый день.">
            <a:extLst>
              <a:ext uri="{FF2B5EF4-FFF2-40B4-BE49-F238E27FC236}">
                <a16:creationId xmlns:a16="http://schemas.microsoft.com/office/drawing/2014/main" id="{E1EE9A59-3992-43B2-9B57-C5342B113F08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4953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Здоровье, голод и усталость.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Запасы нужно пополнять каждый день.</a:t>
            </a:r>
          </a:p>
        </p:txBody>
      </p:sp>
      <p:sp>
        <p:nvSpPr>
          <p:cNvPr id="5" name="Добыча и рыбалка">
            <a:extLst>
              <a:ext uri="{FF2B5EF4-FFF2-40B4-BE49-F238E27FC236}">
                <a16:creationId xmlns:a16="http://schemas.microsoft.com/office/drawing/2014/main" id="{60774833-466F-4221-B959-E46CA916E202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Добыча и рыбалка</a:t>
            </a:r>
          </a:p>
        </p:txBody>
      </p:sp>
      <p:sp>
        <p:nvSpPr>
          <p:cNvPr id="6" name="Древесина и материалы в лесу.&#10;Рыба и находки у берега.">
            <a:extLst>
              <a:ext uri="{FF2B5EF4-FFF2-40B4-BE49-F238E27FC236}">
                <a16:creationId xmlns:a16="http://schemas.microsoft.com/office/drawing/2014/main" id="{6A65C0F9-0169-45CA-8E0E-848218D7E05B}"/>
              </a:ext>
            </a:extLst>
          </p:cNvPr>
          <p:cNvSpPr>
            <a:spLocks noGrp="1"/>
          </p:cNvSpPr>
          <p:nvPr/>
        </p:nvSpPr>
        <p:spPr>
          <a:xfrm>
            <a:off x="6477000" y="2171700"/>
            <a:ext cx="4953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Древесина и материалы в лесу.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Рыба и находки у берега.</a:t>
            </a:r>
          </a:p>
        </p:txBody>
      </p:sp>
      <p:sp>
        <p:nvSpPr>
          <p:cNvPr id="7" name="Крафт и приготовление еды">
            <a:extLst>
              <a:ext uri="{FF2B5EF4-FFF2-40B4-BE49-F238E27FC236}">
                <a16:creationId xmlns:a16="http://schemas.microsoft.com/office/drawing/2014/main" id="{6CC0B790-D901-47FA-90A4-56653A1E52C7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Крафт и приготовление еды</a:t>
            </a:r>
          </a:p>
        </p:txBody>
      </p:sp>
      <p:sp>
        <p:nvSpPr>
          <p:cNvPr id="8" name="Создание инструментов и предметов.&#10;Готовка из собранных ресурсов.">
            <a:extLst>
              <a:ext uri="{FF2B5EF4-FFF2-40B4-BE49-F238E27FC236}">
                <a16:creationId xmlns:a16="http://schemas.microsoft.com/office/drawing/2014/main" id="{015FA90A-6ECD-47C8-80F3-3995760BB870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4953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Создание инструментов и предметов.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Готовка из собранных ресурсов.</a:t>
            </a:r>
          </a:p>
        </p:txBody>
      </p:sp>
      <p:sp>
        <p:nvSpPr>
          <p:cNvPr id="9" name="Строительство">
            <a:extLst>
              <a:ext uri="{FF2B5EF4-FFF2-40B4-BE49-F238E27FC236}">
                <a16:creationId xmlns:a16="http://schemas.microsoft.com/office/drawing/2014/main" id="{90402565-AA35-42E5-9DD1-E59079BB3D93}"/>
              </a:ext>
            </a:extLst>
          </p:cNvPr>
          <p:cNvSpPr>
            <a:spLocks noGrp="1"/>
          </p:cNvSpPr>
          <p:nvPr/>
        </p:nvSpPr>
        <p:spPr>
          <a:xfrm>
            <a:off x="6477000" y="32766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Строительство</a:t>
            </a:r>
          </a:p>
        </p:txBody>
      </p:sp>
      <p:sp>
        <p:nvSpPr>
          <p:cNvPr id="10" name="Улучшение хижины, баррикады&#10;и места для хранения запасов.">
            <a:extLst>
              <a:ext uri="{FF2B5EF4-FFF2-40B4-BE49-F238E27FC236}">
                <a16:creationId xmlns:a16="http://schemas.microsoft.com/office/drawing/2014/main" id="{BC8641B8-3097-4998-A4CF-7D75EBEF8EB6}"/>
              </a:ext>
            </a:extLst>
          </p:cNvPr>
          <p:cNvSpPr>
            <a:spLocks noGrp="1"/>
          </p:cNvSpPr>
          <p:nvPr/>
        </p:nvSpPr>
        <p:spPr>
          <a:xfrm>
            <a:off x="6477000" y="3733800"/>
            <a:ext cx="4953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Улучшение хижины, баррикады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места для хранения запасов.</a:t>
            </a:r>
          </a:p>
        </p:txBody>
      </p:sp>
      <p:sp>
        <p:nvSpPr>
          <p:cNvPr id="11" name="Задания">
            <a:extLst>
              <a:ext uri="{FF2B5EF4-FFF2-40B4-BE49-F238E27FC236}">
                <a16:creationId xmlns:a16="http://schemas.microsoft.com/office/drawing/2014/main" id="{C68096DB-9997-4F86-883F-EFE62E0D0826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Задания</a:t>
            </a:r>
          </a:p>
        </p:txBody>
      </p:sp>
      <p:sp>
        <p:nvSpPr>
          <p:cNvPr id="12" name="Доставка предметов, поиск ресурсов&#10;и поддержание света маяка.">
            <a:extLst>
              <a:ext uri="{FF2B5EF4-FFF2-40B4-BE49-F238E27FC236}">
                <a16:creationId xmlns:a16="http://schemas.microsoft.com/office/drawing/2014/main" id="{1975132A-67A8-44B7-A737-84006BDAC83F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4953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Доставка предметов, поиск ресурсов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поддержание света маяка.</a:t>
            </a:r>
          </a:p>
        </p:txBody>
      </p:sp>
      <p:sp>
        <p:nvSpPr>
          <p:cNvPr id="13" name="Рост угрозы">
            <a:extLst>
              <a:ext uri="{FF2B5EF4-FFF2-40B4-BE49-F238E27FC236}">
                <a16:creationId xmlns:a16="http://schemas.microsoft.com/office/drawing/2014/main" id="{761EF075-5632-4011-84F6-B998E521B6A4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Рост угрозы</a:t>
            </a:r>
          </a:p>
        </p:txBody>
      </p:sp>
      <p:sp>
        <p:nvSpPr>
          <p:cNvPr id="14" name="Ночью появляются новые существа.&#10;Со временем выживать становится сложн">
            <a:extLst>
              <a:ext uri="{FF2B5EF4-FFF2-40B4-BE49-F238E27FC236}">
                <a16:creationId xmlns:a16="http://schemas.microsoft.com/office/drawing/2014/main" id="{FC31812F-ED15-4DCF-A61E-99A4692D5F5F}"/>
              </a:ext>
            </a:extLst>
          </p:cNvPr>
          <p:cNvSpPr>
            <a:spLocks noGrp="1"/>
          </p:cNvSpPr>
          <p:nvPr/>
        </p:nvSpPr>
        <p:spPr>
          <a:xfrm>
            <a:off x="6477000" y="5295900"/>
            <a:ext cx="4953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Ночью появляются новые существа.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Со временем выживать становится сложнее.</a:t>
            </a:r>
          </a:p>
        </p:txBody>
      </p:sp>
    </p:spTree>
    <p:extLst>
      <p:ext uri="{BB962C8B-B14F-4D97-AF65-F5344CB8AC3E}">
        <p14:creationId xmlns:p14="http://schemas.microsoft.com/office/powerpoint/2010/main" val="947941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Остров и локации">
            <a:extLst>
              <a:ext uri="{FF2B5EF4-FFF2-40B4-BE49-F238E27FC236}">
                <a16:creationId xmlns:a16="http://schemas.microsoft.com/office/drawing/2014/main" id="{5D57E356-1B9C-48DF-B053-E28C05AF9EA4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Остров и локации</a:t>
            </a:r>
          </a:p>
        </p:txBody>
      </p:sp>
      <p:sp>
        <p:nvSpPr>
          <p:cNvPr id="2" name="09">
            <a:extLst>
              <a:ext uri="{FF2B5EF4-FFF2-40B4-BE49-F238E27FC236}">
                <a16:creationId xmlns:a16="http://schemas.microsoft.com/office/drawing/2014/main" id="{1AEB9461-DBD7-4EF3-B7D4-0C37DB368AB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2988" y="1609725"/>
            <a:ext cx="6057900" cy="4543425"/>
          </a:xfrm>
          <a:prstGeom prst="rect">
            <a:avLst/>
          </a:prstGeom>
        </p:spPr>
      </p:pic>
      <p:sp>
        <p:nvSpPr>
          <p:cNvPr id="4" name="Иллюстрация концепции">
            <a:extLst>
              <a:ext uri="{FF2B5EF4-FFF2-40B4-BE49-F238E27FC236}">
                <a16:creationId xmlns:a16="http://schemas.microsoft.com/office/drawing/2014/main" id="{B86E7625-A777-49AB-884B-7DBBDEA906DA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67722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Иллюстрация концепции</a:t>
            </a:r>
          </a:p>
        </p:txBody>
      </p:sp>
      <p:sp>
        <p:nvSpPr>
          <p:cNvPr id="5" name="Маяк">
            <a:extLst>
              <a:ext uri="{FF2B5EF4-FFF2-40B4-BE49-F238E27FC236}">
                <a16:creationId xmlns:a16="http://schemas.microsoft.com/office/drawing/2014/main" id="{BD433652-C6EB-4692-A24B-634389A3697E}"/>
              </a:ext>
            </a:extLst>
          </p:cNvPr>
          <p:cNvSpPr>
            <a:spLocks noGrp="1"/>
          </p:cNvSpPr>
          <p:nvPr/>
        </p:nvSpPr>
        <p:spPr>
          <a:xfrm>
            <a:off x="7905750" y="1676400"/>
            <a:ext cx="3524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Маяк</a:t>
            </a:r>
          </a:p>
        </p:txBody>
      </p:sp>
      <p:sp>
        <p:nvSpPr>
          <p:cNvPr id="6" name="Обслуживание света&#10;и основные задания.">
            <a:extLst>
              <a:ext uri="{FF2B5EF4-FFF2-40B4-BE49-F238E27FC236}">
                <a16:creationId xmlns:a16="http://schemas.microsoft.com/office/drawing/2014/main" id="{00ECD6A5-398E-4C8B-AE65-4EB6CDA67922}"/>
              </a:ext>
            </a:extLst>
          </p:cNvPr>
          <p:cNvSpPr>
            <a:spLocks noGrp="1"/>
          </p:cNvSpPr>
          <p:nvPr/>
        </p:nvSpPr>
        <p:spPr>
          <a:xfrm>
            <a:off x="7905750" y="2133600"/>
            <a:ext cx="3524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Обслуживание света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основные задания.</a:t>
            </a:r>
          </a:p>
        </p:txBody>
      </p:sp>
      <p:sp>
        <p:nvSpPr>
          <p:cNvPr id="7" name="Хижина">
            <a:extLst>
              <a:ext uri="{FF2B5EF4-FFF2-40B4-BE49-F238E27FC236}">
                <a16:creationId xmlns:a16="http://schemas.microsoft.com/office/drawing/2014/main" id="{3CDF0071-0E76-46CA-A457-D08D1B2DA85D}"/>
              </a:ext>
            </a:extLst>
          </p:cNvPr>
          <p:cNvSpPr>
            <a:spLocks noGrp="1"/>
          </p:cNvSpPr>
          <p:nvPr/>
        </p:nvSpPr>
        <p:spPr>
          <a:xfrm>
            <a:off x="7905750" y="2819400"/>
            <a:ext cx="3524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Хижина</a:t>
            </a:r>
          </a:p>
        </p:txBody>
      </p:sp>
      <p:sp>
        <p:nvSpPr>
          <p:cNvPr id="8" name="Сон, готовка и хранение&#10;ресурсов.">
            <a:extLst>
              <a:ext uri="{FF2B5EF4-FFF2-40B4-BE49-F238E27FC236}">
                <a16:creationId xmlns:a16="http://schemas.microsoft.com/office/drawing/2014/main" id="{F6214D87-CF01-4248-AC8A-6DB50F5884CA}"/>
              </a:ext>
            </a:extLst>
          </p:cNvPr>
          <p:cNvSpPr>
            <a:spLocks noGrp="1"/>
          </p:cNvSpPr>
          <p:nvPr/>
        </p:nvSpPr>
        <p:spPr>
          <a:xfrm>
            <a:off x="7905750" y="3276600"/>
            <a:ext cx="3524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Сон, готовка и хранение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ресурсов.</a:t>
            </a:r>
          </a:p>
        </p:txBody>
      </p:sp>
      <p:sp>
        <p:nvSpPr>
          <p:cNvPr id="9" name="Лес">
            <a:extLst>
              <a:ext uri="{FF2B5EF4-FFF2-40B4-BE49-F238E27FC236}">
                <a16:creationId xmlns:a16="http://schemas.microsoft.com/office/drawing/2014/main" id="{14463DDF-02C2-41A0-BC6D-5A639B641106}"/>
              </a:ext>
            </a:extLst>
          </p:cNvPr>
          <p:cNvSpPr>
            <a:spLocks noGrp="1"/>
          </p:cNvSpPr>
          <p:nvPr/>
        </p:nvSpPr>
        <p:spPr>
          <a:xfrm>
            <a:off x="7905750" y="3962400"/>
            <a:ext cx="3524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Лес</a:t>
            </a:r>
          </a:p>
        </p:txBody>
      </p:sp>
      <p:sp>
        <p:nvSpPr>
          <p:cNvPr id="10" name="Древесина, материалы&#10;и скрытые подсказки.">
            <a:extLst>
              <a:ext uri="{FF2B5EF4-FFF2-40B4-BE49-F238E27FC236}">
                <a16:creationId xmlns:a16="http://schemas.microsoft.com/office/drawing/2014/main" id="{BFD4FD32-B2D3-4BE3-A880-E61E7E061B82}"/>
              </a:ext>
            </a:extLst>
          </p:cNvPr>
          <p:cNvSpPr>
            <a:spLocks noGrp="1"/>
          </p:cNvSpPr>
          <p:nvPr/>
        </p:nvSpPr>
        <p:spPr>
          <a:xfrm>
            <a:off x="7905750" y="4419600"/>
            <a:ext cx="3524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Древесина, материалы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скрытые подсказки.</a:t>
            </a:r>
          </a:p>
        </p:txBody>
      </p:sp>
      <p:sp>
        <p:nvSpPr>
          <p:cNvPr id="11" name="Берег">
            <a:extLst>
              <a:ext uri="{FF2B5EF4-FFF2-40B4-BE49-F238E27FC236}">
                <a16:creationId xmlns:a16="http://schemas.microsoft.com/office/drawing/2014/main" id="{219411DF-B3AB-40E8-AB99-D41406A23C61}"/>
              </a:ext>
            </a:extLst>
          </p:cNvPr>
          <p:cNvSpPr>
            <a:spLocks noGrp="1"/>
          </p:cNvSpPr>
          <p:nvPr/>
        </p:nvSpPr>
        <p:spPr>
          <a:xfrm>
            <a:off x="7905750" y="5105400"/>
            <a:ext cx="3524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Берег</a:t>
            </a:r>
          </a:p>
        </p:txBody>
      </p:sp>
      <p:sp>
        <p:nvSpPr>
          <p:cNvPr id="12" name="Рыбалка и предметы,&#10;выброшенные морем.">
            <a:extLst>
              <a:ext uri="{FF2B5EF4-FFF2-40B4-BE49-F238E27FC236}">
                <a16:creationId xmlns:a16="http://schemas.microsoft.com/office/drawing/2014/main" id="{18745FB2-4A1E-49A3-94D8-2F7ABEE847F0}"/>
              </a:ext>
            </a:extLst>
          </p:cNvPr>
          <p:cNvSpPr>
            <a:spLocks noGrp="1"/>
          </p:cNvSpPr>
          <p:nvPr/>
        </p:nvSpPr>
        <p:spPr>
          <a:xfrm>
            <a:off x="7905750" y="5562600"/>
            <a:ext cx="3524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Рыбалка и предметы,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выброшенные морем.</a:t>
            </a:r>
          </a:p>
        </p:txBody>
      </p:sp>
    </p:spTree>
    <p:extLst>
      <p:ext uri="{BB962C8B-B14F-4D97-AF65-F5344CB8AC3E}">
        <p14:creationId xmlns:p14="http://schemas.microsoft.com/office/powerpoint/2010/main" val="525370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сихологический хоррор">
            <a:extLst>
              <a:ext uri="{FF2B5EF4-FFF2-40B4-BE49-F238E27FC236}">
                <a16:creationId xmlns:a16="http://schemas.microsoft.com/office/drawing/2014/main" id="{E3B113F4-E074-495E-A5B8-400591A5F16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Психологический хоррор</a:t>
            </a:r>
          </a:p>
        </p:txBody>
      </p:sp>
      <p:sp>
        <p:nvSpPr>
          <p:cNvPr id="2" name="10">
            <a:extLst>
              <a:ext uri="{FF2B5EF4-FFF2-40B4-BE49-F238E27FC236}">
                <a16:creationId xmlns:a16="http://schemas.microsoft.com/office/drawing/2014/main" id="{BB2D8BE3-D451-4200-8FF0-CFD7E464833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6C4B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Возможный сюжет: монстры существуют&#10;только в восприятии смотрителя.">
            <a:extLst>
              <a:ext uri="{FF2B5EF4-FFF2-40B4-BE49-F238E27FC236}">
                <a16:creationId xmlns:a16="http://schemas.microsoft.com/office/drawing/2014/main" id="{6AA55F4D-941E-4BFA-9AB4-53F0A981B688}"/>
              </a:ext>
            </a:extLst>
          </p:cNvPr>
          <p:cNvSpPr>
            <a:spLocks noGrp="1"/>
          </p:cNvSpPr>
          <p:nvPr/>
        </p:nvSpPr>
        <p:spPr>
          <a:xfrm>
            <a:off x="685800" y="1609725"/>
            <a:ext cx="10477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Возможный сюжет: монстры существуют</a:t>
            </a:r>
          </a:p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только в восприятии смотрителя.</a:t>
            </a:r>
          </a:p>
        </p:txBody>
      </p:sp>
      <p:sp>
        <p:nvSpPr>
          <p:cNvPr id="4" name="Одиночество и рутина">
            <a:extLst>
              <a:ext uri="{FF2B5EF4-FFF2-40B4-BE49-F238E27FC236}">
                <a16:creationId xmlns:a16="http://schemas.microsoft.com/office/drawing/2014/main" id="{4295C367-3F23-43DE-ABA4-C670A8EF03BF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3524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Одиночество и рутина</a:t>
            </a:r>
          </a:p>
        </p:txBody>
      </p:sp>
      <p:sp>
        <p:nvSpPr>
          <p:cNvPr id="5" name="Повторяющиеся обязанности и недосып усиливают тревогу.">
            <a:extLst>
              <a:ext uri="{FF2B5EF4-FFF2-40B4-BE49-F238E27FC236}">
                <a16:creationId xmlns:a16="http://schemas.microsoft.com/office/drawing/2014/main" id="{25DC7F3C-784B-4399-9287-778A13A68A1E}"/>
              </a:ext>
            </a:extLst>
          </p:cNvPr>
          <p:cNvSpPr>
            <a:spLocks noGrp="1"/>
          </p:cNvSpPr>
          <p:nvPr/>
        </p:nvSpPr>
        <p:spPr>
          <a:xfrm>
            <a:off x="4324350" y="3048000"/>
            <a:ext cx="71818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Повторяющиеся обязанности и недосып усиливают тревогу.</a:t>
            </a:r>
          </a:p>
        </p:txBody>
      </p:sp>
      <p:sp>
        <p:nvSpPr>
          <p:cNvPr id="6" name="Изменение мира">
            <a:extLst>
              <a:ext uri="{FF2B5EF4-FFF2-40B4-BE49-F238E27FC236}">
                <a16:creationId xmlns:a16="http://schemas.microsoft.com/office/drawing/2014/main" id="{D0615D64-96B8-4C81-B6C3-2B3FB0874C75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3524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Изменение мира</a:t>
            </a:r>
          </a:p>
        </p:txBody>
      </p:sp>
      <p:sp>
        <p:nvSpPr>
          <p:cNvPr id="7" name="Палитра холодеет, тени и звуки начинают искажаться.">
            <a:extLst>
              <a:ext uri="{FF2B5EF4-FFF2-40B4-BE49-F238E27FC236}">
                <a16:creationId xmlns:a16="http://schemas.microsoft.com/office/drawing/2014/main" id="{79621FDF-40F6-4205-B23C-4B1A5E740337}"/>
              </a:ext>
            </a:extLst>
          </p:cNvPr>
          <p:cNvSpPr>
            <a:spLocks noGrp="1"/>
          </p:cNvSpPr>
          <p:nvPr/>
        </p:nvSpPr>
        <p:spPr>
          <a:xfrm>
            <a:off x="4324350" y="3800475"/>
            <a:ext cx="71818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Палитра холодеет, тени и звуки начинают искажаться.</a:t>
            </a:r>
          </a:p>
        </p:txBody>
      </p:sp>
      <p:sp>
        <p:nvSpPr>
          <p:cNvPr id="8" name="Нарастающая опасность">
            <a:extLst>
              <a:ext uri="{FF2B5EF4-FFF2-40B4-BE49-F238E27FC236}">
                <a16:creationId xmlns:a16="http://schemas.microsoft.com/office/drawing/2014/main" id="{79BA6F8E-0D5D-4138-BB1C-4A568BDA9005}"/>
              </a:ext>
            </a:extLst>
          </p:cNvPr>
          <p:cNvSpPr>
            <a:spLocks noGrp="1"/>
          </p:cNvSpPr>
          <p:nvPr/>
        </p:nvSpPr>
        <p:spPr>
          <a:xfrm>
            <a:off x="685800" y="4543425"/>
            <a:ext cx="3524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Нарастающая опасность</a:t>
            </a:r>
          </a:p>
        </p:txBody>
      </p:sp>
      <p:sp>
        <p:nvSpPr>
          <p:cNvPr id="9" name="Сначала существа наблюдают, позже мешают и преследуют.">
            <a:extLst>
              <a:ext uri="{FF2B5EF4-FFF2-40B4-BE49-F238E27FC236}">
                <a16:creationId xmlns:a16="http://schemas.microsoft.com/office/drawing/2014/main" id="{834C27F0-C688-4845-B73A-B630AB9F9C4E}"/>
              </a:ext>
            </a:extLst>
          </p:cNvPr>
          <p:cNvSpPr>
            <a:spLocks noGrp="1"/>
          </p:cNvSpPr>
          <p:nvPr/>
        </p:nvSpPr>
        <p:spPr>
          <a:xfrm>
            <a:off x="4324350" y="4552950"/>
            <a:ext cx="71818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Сначала существа наблюдают, позже мешают и преследуют.</a:t>
            </a:r>
          </a:p>
        </p:txBody>
      </p:sp>
      <p:sp>
        <p:nvSpPr>
          <p:cNvPr id="10" name="Подсказки на карте">
            <a:extLst>
              <a:ext uri="{FF2B5EF4-FFF2-40B4-BE49-F238E27FC236}">
                <a16:creationId xmlns:a16="http://schemas.microsoft.com/office/drawing/2014/main" id="{7C401553-222F-410C-A6F8-03CCA1FE5BED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3524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Подсказки на карте</a:t>
            </a:r>
          </a:p>
        </p:txBody>
      </p:sp>
      <p:sp>
        <p:nvSpPr>
          <p:cNvPr id="11" name="Записки, странные таблички и противоречия в журнале смен.">
            <a:extLst>
              <a:ext uri="{FF2B5EF4-FFF2-40B4-BE49-F238E27FC236}">
                <a16:creationId xmlns:a16="http://schemas.microsoft.com/office/drawing/2014/main" id="{EB29D228-E532-4ECB-9A40-18F4E76F6E9B}"/>
              </a:ext>
            </a:extLst>
          </p:cNvPr>
          <p:cNvSpPr>
            <a:spLocks noGrp="1"/>
          </p:cNvSpPr>
          <p:nvPr/>
        </p:nvSpPr>
        <p:spPr>
          <a:xfrm>
            <a:off x="4324350" y="5305425"/>
            <a:ext cx="71818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Записки, странные таблички и противоречия в журнале смен.</a:t>
            </a:r>
          </a:p>
        </p:txBody>
      </p:sp>
    </p:spTree>
    <p:extLst>
      <p:ext uri="{BB962C8B-B14F-4D97-AF65-F5344CB8AC3E}">
        <p14:creationId xmlns:p14="http://schemas.microsoft.com/office/powerpoint/2010/main" val="861919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ервый прототип">
            <a:extLst>
              <a:ext uri="{FF2B5EF4-FFF2-40B4-BE49-F238E27FC236}">
                <a16:creationId xmlns:a16="http://schemas.microsoft.com/office/drawing/2014/main" id="{81C72D42-B904-4DD3-B6B7-8594F30B87AE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План первого прототипа</a:t>
            </a:r>
          </a:p>
        </p:txBody>
      </p:sp>
      <p:sp>
        <p:nvSpPr>
          <p:cNvPr id="2" name="11">
            <a:extLst>
              <a:ext uri="{FF2B5EF4-FFF2-40B4-BE49-F238E27FC236}">
                <a16:creationId xmlns:a16="http://schemas.microsoft.com/office/drawing/2014/main" id="{0AC5519D-86F2-402E-9F24-1A2723DD05B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Один игровой день на небольшом острове">
            <a:extLst>
              <a:ext uri="{FF2B5EF4-FFF2-40B4-BE49-F238E27FC236}">
                <a16:creationId xmlns:a16="http://schemas.microsoft.com/office/drawing/2014/main" id="{D0D2E90B-0976-4E82-9477-C836424C07DE}"/>
              </a:ext>
            </a:extLst>
          </p:cNvPr>
          <p:cNvSpPr>
            <a:spLocks noGrp="1"/>
          </p:cNvSpPr>
          <p:nvPr/>
        </p:nvSpPr>
        <p:spPr>
          <a:xfrm>
            <a:off x="685800" y="164782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Один игровой день на небольшом острове</a:t>
            </a:r>
          </a:p>
        </p:txBody>
      </p:sp>
      <p:sp>
        <p:nvSpPr>
          <p:cNvPr id="4" name="Мир и управление">
            <a:extLst>
              <a:ext uri="{FF2B5EF4-FFF2-40B4-BE49-F238E27FC236}">
                <a16:creationId xmlns:a16="http://schemas.microsoft.com/office/drawing/2014/main" id="{985202FD-32B4-4875-AAA3-52CA86045939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Мир и управление</a:t>
            </a:r>
          </a:p>
        </p:txBody>
      </p:sp>
      <p:sp>
        <p:nvSpPr>
          <p:cNvPr id="5" name="Персонаж, изометрическая камера&#10;и четыре основные локации.">
            <a:extLst>
              <a:ext uri="{FF2B5EF4-FFF2-40B4-BE49-F238E27FC236}">
                <a16:creationId xmlns:a16="http://schemas.microsoft.com/office/drawing/2014/main" id="{45BBAF06-7203-46A8-90D6-C87F31268CC9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Персонаж, изометрическая камера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четыре основные локации.</a:t>
            </a:r>
          </a:p>
        </p:txBody>
      </p:sp>
      <p:sp>
        <p:nvSpPr>
          <p:cNvPr id="6" name="Взаимодействие">
            <a:extLst>
              <a:ext uri="{FF2B5EF4-FFF2-40B4-BE49-F238E27FC236}">
                <a16:creationId xmlns:a16="http://schemas.microsoft.com/office/drawing/2014/main" id="{A1E3EE29-9332-41A2-813F-27DB91F07219}"/>
              </a:ext>
            </a:extLst>
          </p:cNvPr>
          <p:cNvSpPr>
            <a:spLocks noGrp="1"/>
          </p:cNvSpPr>
          <p:nvPr/>
        </p:nvSpPr>
        <p:spPr>
          <a:xfrm>
            <a:off x="6477000" y="26289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Взаимодействие</a:t>
            </a:r>
          </a:p>
        </p:txBody>
      </p:sp>
      <p:sp>
        <p:nvSpPr>
          <p:cNvPr id="7" name="Подбор ресурсов, простой инвентарь&#10;и одно задание по обслуживанию маяк">
            <a:extLst>
              <a:ext uri="{FF2B5EF4-FFF2-40B4-BE49-F238E27FC236}">
                <a16:creationId xmlns:a16="http://schemas.microsoft.com/office/drawing/2014/main" id="{1F79CB96-172F-4AB8-968A-36BE11863858}"/>
              </a:ext>
            </a:extLst>
          </p:cNvPr>
          <p:cNvSpPr>
            <a:spLocks noGrp="1"/>
          </p:cNvSpPr>
          <p:nvPr/>
        </p:nvSpPr>
        <p:spPr>
          <a:xfrm>
            <a:off x="6477000" y="30861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Подбор ресурсов, простой инвентарь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одно задание по обслуживанию маяка.</a:t>
            </a:r>
          </a:p>
        </p:txBody>
      </p:sp>
      <p:sp>
        <p:nvSpPr>
          <p:cNvPr id="8" name="Игровой цикл">
            <a:extLst>
              <a:ext uri="{FF2B5EF4-FFF2-40B4-BE49-F238E27FC236}">
                <a16:creationId xmlns:a16="http://schemas.microsoft.com/office/drawing/2014/main" id="{0C5F6B59-86E1-4452-8FEF-168D14298A42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Игровой цикл</a:t>
            </a:r>
          </a:p>
        </p:txBody>
      </p:sp>
      <p:sp>
        <p:nvSpPr>
          <p:cNvPr id="9" name="Смена дня и ночи.&#10;Одно событие с ночным существом.">
            <a:extLst>
              <a:ext uri="{FF2B5EF4-FFF2-40B4-BE49-F238E27FC236}">
                <a16:creationId xmlns:a16="http://schemas.microsoft.com/office/drawing/2014/main" id="{82A15C0D-3F6F-4539-BD6D-12024E6DB2F7}"/>
              </a:ext>
            </a:extLst>
          </p:cNvPr>
          <p:cNvSpPr>
            <a:spLocks noGrp="1"/>
          </p:cNvSpPr>
          <p:nvPr/>
        </p:nvSpPr>
        <p:spPr>
          <a:xfrm>
            <a:off x="685800" y="4867275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Смена дня и ночи.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Одно событие с ночным существом.</a:t>
            </a:r>
          </a:p>
        </p:txBody>
      </p:sp>
      <p:sp>
        <p:nvSpPr>
          <p:cNvPr id="10" name="Что проверим">
            <a:extLst>
              <a:ext uri="{FF2B5EF4-FFF2-40B4-BE49-F238E27FC236}">
                <a16:creationId xmlns:a16="http://schemas.microsoft.com/office/drawing/2014/main" id="{2F70F136-666D-47BD-889A-8B79175B95C6}"/>
              </a:ext>
            </a:extLst>
          </p:cNvPr>
          <p:cNvSpPr>
            <a:spLocks noGrp="1"/>
          </p:cNvSpPr>
          <p:nvPr/>
        </p:nvSpPr>
        <p:spPr>
          <a:xfrm>
            <a:off x="6477000" y="441007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Что проверим</a:t>
            </a:r>
          </a:p>
        </p:txBody>
      </p:sp>
      <p:sp>
        <p:nvSpPr>
          <p:cNvPr id="11" name="Понятны ли цели игроку и хватает ли&#10;времени подготовиться к ночи.">
            <a:extLst>
              <a:ext uri="{FF2B5EF4-FFF2-40B4-BE49-F238E27FC236}">
                <a16:creationId xmlns:a16="http://schemas.microsoft.com/office/drawing/2014/main" id="{58CFE2B4-AB7A-48FA-9A53-4FD9E268A24E}"/>
              </a:ext>
            </a:extLst>
          </p:cNvPr>
          <p:cNvSpPr>
            <a:spLocks noGrp="1"/>
          </p:cNvSpPr>
          <p:nvPr/>
        </p:nvSpPr>
        <p:spPr>
          <a:xfrm>
            <a:off x="6477000" y="4867275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Понятны ли цели игроку и хватает ли</a:t>
            </a:r>
          </a:p>
          <a:p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времени подготовиться к ночи.</a:t>
            </a:r>
          </a:p>
        </p:txBody>
      </p:sp>
    </p:spTree>
    <p:extLst>
      <p:ext uri="{BB962C8B-B14F-4D97-AF65-F5344CB8AC3E}">
        <p14:creationId xmlns:p14="http://schemas.microsoft.com/office/powerpoint/2010/main" val="53534558"/>
      </p:ext>
    </p:extLst>
  </p:cSld>
  <p:clrMapOvr>
    <a:masterClrMapping/>
  </p:clrMapOvr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Текущая версия в Godot">
            <a:extLst xmlns:a="http://schemas.openxmlformats.org/drawingml/2006/main">
              <a:ext uri="{FF2B5EF4-FFF2-40B4-BE49-F238E27FC236}">
                <a16:creationId xmlns:a16="http://schemas.microsoft.com/office/drawing/2014/main" id="{1436372E-A51E-4F36-9797-657AAB3E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Текущая версия в Godot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02B5D223-FB5B-4714-AEBE-ECB7BAA2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074AF-0B5F-4D3A-950E-F30B1F289F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e29c641794f4d"/>
          <a:stretch xmlns:a="http://schemas.openxmlformats.org/drawingml/2006/main"/>
        </p:blipFill>
        <p:spPr>
          <a:xfrm xmlns:a="http://schemas.openxmlformats.org/drawingml/2006/main">
            <a:off x="685800" y="140970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Godot 4.7.2">
            <a:extLst xmlns:a="http://schemas.openxmlformats.org/drawingml/2006/main">
              <a:ext uri="{FF2B5EF4-FFF2-40B4-BE49-F238E27FC236}">
                <a16:creationId xmlns:a16="http://schemas.microsoft.com/office/drawing/2014/main" id="{1A34F9EA-C369-4A70-8884-82D2C743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Godot 4.7.2</a:t>
            </a:r>
          </a:p>
        </p:txBody>
      </p:sp>
      <p:sp>
        <p:nvSpPr>
          <p:cNvPr id="5" name="Одиночная игра для ПК,&#10;без VR.">
            <a:extLst xmlns:a="http://schemas.openxmlformats.org/drawingml/2006/main">
              <a:ext uri="{FF2B5EF4-FFF2-40B4-BE49-F238E27FC236}">
                <a16:creationId xmlns:a16="http://schemas.microsoft.com/office/drawing/2014/main" id="{AD0C8187-DE5C-4360-A9F3-C7B52021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62150"/>
            <a:ext cx="285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Одиночная игра для ПК,</a:t>
            </a:r>
          </a:p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без VR.</a:t>
            </a:r>
          </a:p>
        </p:txBody>
      </p:sp>
      <p:sp>
        <p:nvSpPr>
          <p:cNvPr id="6" name="Объёмный остров">
            <a:extLst xmlns:a="http://schemas.openxmlformats.org/drawingml/2006/main">
              <a:ext uri="{FF2B5EF4-FFF2-40B4-BE49-F238E27FC236}">
                <a16:creationId xmlns:a16="http://schemas.microsoft.com/office/drawing/2014/main" id="{C2ED0231-3D6E-46A6-9AFD-B270501C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95625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Объёмный остров</a:t>
            </a:r>
          </a:p>
        </p:txBody>
      </p:sp>
      <p:sp>
        <p:nvSpPr>
          <p:cNvPr id="7" name="Маяк, хижина, лес&#10;и рыбацкий причал.">
            <a:extLst xmlns:a="http://schemas.openxmlformats.org/drawingml/2006/main">
              <a:ext uri="{FF2B5EF4-FFF2-40B4-BE49-F238E27FC236}">
                <a16:creationId xmlns:a16="http://schemas.microsoft.com/office/drawing/2014/main" id="{25C510DC-E79B-464B-B3FC-09E91A0C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33775"/>
            <a:ext cx="285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Маяк, хижина, лес</a:t>
            </a:r>
          </a:p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рыбацкий причал.</a:t>
            </a:r>
          </a:p>
        </p:txBody>
      </p:sp>
      <p:sp>
        <p:nvSpPr>
          <p:cNvPr id="8" name="Первая смена">
            <a:extLst xmlns:a="http://schemas.openxmlformats.org/drawingml/2006/main">
              <a:ext uri="{FF2B5EF4-FFF2-40B4-BE49-F238E27FC236}">
                <a16:creationId xmlns:a16="http://schemas.microsoft.com/office/drawing/2014/main" id="{09820132-8272-46D0-85D4-66D145D9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67250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Первая смена</a:t>
            </a:r>
          </a:p>
        </p:txBody>
      </p:sp>
      <p:sp>
        <p:nvSpPr>
          <p:cNvPr id="9" name="Задания, подготовка&#10;к ночи и первый рассвет.">
            <a:extLst xmlns:a="http://schemas.openxmlformats.org/drawingml/2006/main">
              <a:ext uri="{FF2B5EF4-FFF2-40B4-BE49-F238E27FC236}">
                <a16:creationId xmlns:a16="http://schemas.microsoft.com/office/drawing/2014/main" id="{9BEB8727-5F9F-47E4-BD4F-C2D69781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05400"/>
            <a:ext cx="285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Задания, подготовка</a:t>
            </a:r>
          </a:p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к ночи и первый рассвет.</a:t>
            </a:r>
          </a:p>
        </p:txBody>
      </p:sp>
      <p:sp>
        <p:nvSpPr>
          <p:cNvPr id="10" name="Кадр текущей демоверсии">
            <a:extLst xmlns:a="http://schemas.openxmlformats.org/drawingml/2006/main">
              <a:ext uri="{FF2B5EF4-FFF2-40B4-BE49-F238E27FC236}">
                <a16:creationId xmlns:a16="http://schemas.microsoft.com/office/drawing/2014/main" id="{036C6614-F831-43EA-80EC-FB9B8F03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Кадр текущей демоверсии</a:t>
            </a:r>
          </a:p>
        </p:txBody>
      </p:sp>
    </p:spTree>
    <p:extLst>
      <p:ext uri="{BB962C8B-B14F-4D97-AF65-F5344CB8AC3E}">
        <p14:creationId xmlns:p14="http://schemas.microsoft.com/office/powerpoint/2010/main" val="20859914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еализованные механики">
            <a:extLst xmlns:a="http://schemas.openxmlformats.org/drawingml/2006/main">
              <a:ext uri="{FF2B5EF4-FFF2-40B4-BE49-F238E27FC236}">
                <a16:creationId xmlns:a16="http://schemas.microsoft.com/office/drawing/2014/main" id="{AB34322D-362E-444E-A90E-7CA05EAC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Реализованные механики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4355229A-50A6-4AED-AFEB-CC535DAC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298EB-DCB7-453D-A8A9-21E3E22468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5e9717c9a4e54"/>
          <a:stretch xmlns:a="http://schemas.openxmlformats.org/drawingml/2006/main"/>
        </p:blipFill>
        <p:spPr>
          <a:xfrm xmlns:a="http://schemas.openxmlformats.org/drawingml/2006/main">
            <a:off x="685800" y="140970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Ресурсы и задания">
            <a:extLst xmlns:a="http://schemas.openxmlformats.org/drawingml/2006/main">
              <a:ext uri="{FF2B5EF4-FFF2-40B4-BE49-F238E27FC236}">
                <a16:creationId xmlns:a16="http://schemas.microsoft.com/office/drawing/2014/main" id="{6170F53D-8B9D-4067-B20B-52C072FC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Ресурсы и задания</a:t>
            </a:r>
          </a:p>
        </p:txBody>
      </p:sp>
      <p:sp>
        <p:nvSpPr>
          <p:cNvPr id="5" name="Топливо и древесина.&#10;Запуск маяка.&#10;Укрепление хижины.">
            <a:extLst xmlns:a="http://schemas.openxmlformats.org/drawingml/2006/main">
              <a:ext uri="{FF2B5EF4-FFF2-40B4-BE49-F238E27FC236}">
                <a16:creationId xmlns:a16="http://schemas.microsoft.com/office/drawing/2014/main" id="{F52DDCE3-4306-4678-95EA-80921D66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62150"/>
            <a:ext cx="285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Топливо и древесина.</a:t>
            </a:r>
          </a:p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Запуск маяка.</a:t>
            </a:r>
          </a:p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Укрепление хижины.</a:t>
            </a:r>
          </a:p>
        </p:txBody>
      </p:sp>
      <p:sp>
        <p:nvSpPr>
          <p:cNvPr id="6" name="Рыбалка и готовка">
            <a:extLst xmlns:a="http://schemas.openxmlformats.org/drawingml/2006/main">
              <a:ext uri="{FF2B5EF4-FFF2-40B4-BE49-F238E27FC236}">
                <a16:creationId xmlns:a16="http://schemas.microsoft.com/office/drawing/2014/main" id="{29EC3BDF-D40C-43EF-8397-87174F16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95625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Рыбалка и готовка</a:t>
            </a:r>
          </a:p>
        </p:txBody>
      </p:sp>
      <p:sp>
        <p:nvSpPr>
          <p:cNvPr id="7" name="Рыбалка на причале.&#10;Готовка и питание.">
            <a:extLst xmlns:a="http://schemas.openxmlformats.org/drawingml/2006/main">
              <a:ext uri="{FF2B5EF4-FFF2-40B4-BE49-F238E27FC236}">
                <a16:creationId xmlns:a16="http://schemas.microsoft.com/office/drawing/2014/main" id="{1512829C-EB20-4315-9A53-1DCCE643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33775"/>
            <a:ext cx="285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Рыбалка на причале.</a:t>
            </a:r>
          </a:p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Готовка и питание.</a:t>
            </a:r>
          </a:p>
        </p:txBody>
      </p:sp>
      <p:sp>
        <p:nvSpPr>
          <p:cNvPr id="8" name="Прогресс">
            <a:extLst xmlns:a="http://schemas.openxmlformats.org/drawingml/2006/main">
              <a:ext uri="{FF2B5EF4-FFF2-40B4-BE49-F238E27FC236}">
                <a16:creationId xmlns:a16="http://schemas.microsoft.com/office/drawing/2014/main" id="{CF18F1DE-8D5A-40FC-BB58-F18C8D54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67250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Прогресс</a:t>
            </a:r>
          </a:p>
        </p:txBody>
      </p:sp>
      <p:sp>
        <p:nvSpPr>
          <p:cNvPr id="9" name="Задания и инвентарь.&#10;Показатели героя.&#10;Сохранение и загрузка.">
            <a:extLst xmlns:a="http://schemas.openxmlformats.org/drawingml/2006/main">
              <a:ext uri="{FF2B5EF4-FFF2-40B4-BE49-F238E27FC236}">
                <a16:creationId xmlns:a16="http://schemas.microsoft.com/office/drawing/2014/main" id="{0944A376-D3C6-44DE-B446-7B8758D9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05400"/>
            <a:ext cx="285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Задания и инвентарь.</a:t>
            </a:r>
          </a:p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Показатели героя.</a:t>
            </a:r>
          </a:p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Сохранение и загрузка.</a:t>
            </a:r>
          </a:p>
        </p:txBody>
      </p:sp>
      <p:sp>
        <p:nvSpPr>
          <p:cNvPr id="10" name="Взаимодействия работают в игровом эпизоде">
            <a:extLst xmlns:a="http://schemas.openxmlformats.org/drawingml/2006/main">
              <a:ext uri="{FF2B5EF4-FFF2-40B4-BE49-F238E27FC236}">
                <a16:creationId xmlns:a16="http://schemas.microsoft.com/office/drawing/2014/main" id="{F1ACAA5A-70CE-4DBF-A69B-D933F9FE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Взаимодействия работают в игровом эпизоде</a:t>
            </a:r>
          </a:p>
        </p:txBody>
      </p:sp>
    </p:spTree>
    <p:extLst>
      <p:ext uri="{BB962C8B-B14F-4D97-AF65-F5344CB8AC3E}">
        <p14:creationId xmlns:p14="http://schemas.microsoft.com/office/powerpoint/2010/main" val="13915356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3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Ночь и атмосфера">
            <a:extLst xmlns:a="http://schemas.openxmlformats.org/drawingml/2006/main">
              <a:ext uri="{FF2B5EF4-FFF2-40B4-BE49-F238E27FC236}">
                <a16:creationId xmlns:a16="http://schemas.microsoft.com/office/drawing/2014/main" id="{F1793BE9-0E1F-452F-A8C7-7FD96CFC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Ночь и атмосфера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54542040-E3AC-466B-804A-ED58494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6C4B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CA20C-0817-40AF-B36E-01045DD547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74420c3294829"/>
          <a:stretch xmlns:a="http://schemas.openxmlformats.org/drawingml/2006/main"/>
        </p:blipFill>
        <p:spPr>
          <a:xfrm xmlns:a="http://schemas.openxmlformats.org/drawingml/2006/main">
            <a:off x="685800" y="140970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Ночные тени">
            <a:extLst xmlns:a="http://schemas.openxmlformats.org/drawingml/2006/main">
              <a:ext uri="{FF2B5EF4-FFF2-40B4-BE49-F238E27FC236}">
                <a16:creationId xmlns:a16="http://schemas.microsoft.com/office/drawing/2014/main" id="{4228AF51-27EC-4586-B99F-F565B3DB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Ночные тени</a:t>
            </a:r>
          </a:p>
        </p:txBody>
      </p:sp>
      <p:sp>
        <p:nvSpPr>
          <p:cNvPr id="5" name="Преследуют героя&#10;и отступают от света.">
            <a:extLst xmlns:a="http://schemas.openxmlformats.org/drawingml/2006/main">
              <a:ext uri="{FF2B5EF4-FFF2-40B4-BE49-F238E27FC236}">
                <a16:creationId xmlns:a16="http://schemas.microsoft.com/office/drawing/2014/main" id="{48F7FAFC-DF0C-418C-BF01-14C3F174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62150"/>
            <a:ext cx="285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Преследуют героя</a:t>
            </a:r>
          </a:p>
          <a:p xmlns:a="http://schemas.openxmlformats.org/drawingml/2006/main"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и отступают от света.</a:t>
            </a:r>
          </a:p>
        </p:txBody>
      </p:sp>
      <p:sp>
        <p:nvSpPr>
          <p:cNvPr id="6" name="Освещение">
            <a:extLst xmlns:a="http://schemas.openxmlformats.org/drawingml/2006/main">
              <a:ext uri="{FF2B5EF4-FFF2-40B4-BE49-F238E27FC236}">
                <a16:creationId xmlns:a16="http://schemas.microsoft.com/office/drawing/2014/main" id="{152807FB-B783-4053-85F3-F347F4E7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95625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Освещение</a:t>
            </a:r>
          </a:p>
        </p:txBody>
      </p:sp>
      <p:sp>
        <p:nvSpPr>
          <p:cNvPr id="7" name="Смена дня и ночи,&#10;луч маяка и ручной фонарь.">
            <a:extLst xmlns:a="http://schemas.openxmlformats.org/drawingml/2006/main">
              <a:ext uri="{FF2B5EF4-FFF2-40B4-BE49-F238E27FC236}">
                <a16:creationId xmlns:a16="http://schemas.microsoft.com/office/drawing/2014/main" id="{86FBC5D3-8E1F-4030-93EE-77D17D34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33775"/>
            <a:ext cx="285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Смена дня и ночи,</a:t>
            </a:r>
          </a:p>
          <a:p xmlns:a="http://schemas.openxmlformats.org/drawingml/2006/main"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луч маяка и ручной фонарь.</a:t>
            </a:r>
          </a:p>
        </p:txBody>
      </p:sp>
      <p:sp>
        <p:nvSpPr>
          <p:cNvPr id="8" name="Живое окружение">
            <a:extLst xmlns:a="http://schemas.openxmlformats.org/drawingml/2006/main">
              <a:ext uri="{FF2B5EF4-FFF2-40B4-BE49-F238E27FC236}">
                <a16:creationId xmlns:a16="http://schemas.microsoft.com/office/drawing/2014/main" id="{AF8462E6-4803-4833-BEFD-C364D758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67250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Живое окружение</a:t>
            </a:r>
          </a:p>
        </p:txBody>
      </p:sp>
      <p:sp>
        <p:nvSpPr>
          <p:cNvPr id="9" name="Дождь, движение ветвей,&#10;прибой, чайки&#10;и качка лодки.">
            <a:extLst xmlns:a="http://schemas.openxmlformats.org/drawingml/2006/main">
              <a:ext uri="{FF2B5EF4-FFF2-40B4-BE49-F238E27FC236}">
                <a16:creationId xmlns:a16="http://schemas.microsoft.com/office/drawing/2014/main" id="{A3514942-0F66-4D6D-8DD9-E892E572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05400"/>
            <a:ext cx="285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Дождь, движение ветвей,</a:t>
            </a:r>
          </a:p>
          <a:p xmlns:a="http://schemas.openxmlformats.org/drawingml/2006/main"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прибой, чайки</a:t>
            </a:r>
          </a:p>
          <a:p xmlns:a="http://schemas.openxmlformats.org/drawingml/2006/main">
            <a:pPr algn="l">
              <a:defRPr sz="1800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и качка лодки.</a:t>
            </a:r>
          </a:p>
        </p:txBody>
      </p:sp>
      <p:sp>
        <p:nvSpPr>
          <p:cNvPr id="10" name="Ночная сцена в Godot">
            <a:extLst xmlns:a="http://schemas.openxmlformats.org/drawingml/2006/main">
              <a:ext uri="{FF2B5EF4-FFF2-40B4-BE49-F238E27FC236}">
                <a16:creationId xmlns:a16="http://schemas.microsoft.com/office/drawing/2014/main" id="{D3050D02-D95D-4676-8125-A9078411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6C4BF"/>
                </a:solidFill>
                <a:latin typeface="Arial"/>
                <a:ea typeface="Arial"/>
                <a:cs typeface="Arial"/>
              </a:rPr>
              <a:t>Ночная сцена в Godot</a:t>
            </a:r>
          </a:p>
        </p:txBody>
      </p:sp>
    </p:spTree>
    <p:extLst>
      <p:ext uri="{BB962C8B-B14F-4D97-AF65-F5344CB8AC3E}">
        <p14:creationId xmlns:p14="http://schemas.microsoft.com/office/powerpoint/2010/main" val="7765719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История и журнал">
            <a:extLst xmlns:a="http://schemas.openxmlformats.org/drawingml/2006/main">
              <a:ext uri="{FF2B5EF4-FFF2-40B4-BE49-F238E27FC236}">
                <a16:creationId xmlns:a16="http://schemas.microsoft.com/office/drawing/2014/main" id="{A4BB3E8A-6153-4213-BEED-90C67C9F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История и журнал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1E8E9244-EE3E-4974-AE7B-23916B53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E5626-C524-4EFC-BB17-8662E65447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ba9b64b604707"/>
          <a:stretch xmlns:a="http://schemas.openxmlformats.org/drawingml/2006/main"/>
        </p:blipFill>
        <p:spPr>
          <a:xfrm xmlns:a="http://schemas.openxmlformats.org/drawingml/2006/main">
            <a:off x="685800" y="140970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Две находки">
            <a:extLst xmlns:a="http://schemas.openxmlformats.org/drawingml/2006/main">
              <a:ext uri="{FF2B5EF4-FFF2-40B4-BE49-F238E27FC236}">
                <a16:creationId xmlns:a16="http://schemas.microsoft.com/office/drawing/2014/main" id="{525AD064-90DA-422A-BE8C-833E6CB1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Две находки</a:t>
            </a:r>
          </a:p>
        </p:txBody>
      </p:sp>
      <p:sp>
        <p:nvSpPr>
          <p:cNvPr id="5" name="Надпись на тропе&#10;и сигнал по радио.">
            <a:extLst xmlns:a="http://schemas.openxmlformats.org/drawingml/2006/main">
              <a:ext uri="{FF2B5EF4-FFF2-40B4-BE49-F238E27FC236}">
                <a16:creationId xmlns:a16="http://schemas.microsoft.com/office/drawing/2014/main" id="{B5C53342-47F7-4AC9-AC24-12694FE7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62150"/>
            <a:ext cx="285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Надпись на тропе</a:t>
            </a:r>
          </a:p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сигнал по радио.</a:t>
            </a:r>
          </a:p>
        </p:txBody>
      </p:sp>
      <p:sp>
        <p:nvSpPr>
          <p:cNvPr id="6" name="Личный журнал">
            <a:extLst xmlns:a="http://schemas.openxmlformats.org/drawingml/2006/main">
              <a:ext uri="{FF2B5EF4-FFF2-40B4-BE49-F238E27FC236}">
                <a16:creationId xmlns:a16="http://schemas.microsoft.com/office/drawing/2014/main" id="{E14E710B-3A4F-4869-9AA1-9FFDDED5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95625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Личный журнал</a:t>
            </a:r>
          </a:p>
        </p:txBody>
      </p:sp>
      <p:sp>
        <p:nvSpPr>
          <p:cNvPr id="7" name="Записи можно перечитать.&#10;Игра стоит на паузе&#10;во время чтения.">
            <a:extLst xmlns:a="http://schemas.openxmlformats.org/drawingml/2006/main">
              <a:ext uri="{FF2B5EF4-FFF2-40B4-BE49-F238E27FC236}">
                <a16:creationId xmlns:a16="http://schemas.microsoft.com/office/drawing/2014/main" id="{5601A499-E49B-459D-B688-93F0B98D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33775"/>
            <a:ext cx="285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Записи можно перечитать.</a:t>
            </a:r>
          </a:p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Игра стоит на паузе</a:t>
            </a:r>
          </a:p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во время чтения.</a:t>
            </a:r>
          </a:p>
        </p:txBody>
      </p:sp>
      <p:sp>
        <p:nvSpPr>
          <p:cNvPr id="8" name="Сюжетная подсказка">
            <a:extLst xmlns:a="http://schemas.openxmlformats.org/drawingml/2006/main">
              <a:ext uri="{FF2B5EF4-FFF2-40B4-BE49-F238E27FC236}">
                <a16:creationId xmlns:a16="http://schemas.microsoft.com/office/drawing/2014/main" id="{A1C67216-F818-4548-B860-7DE46A06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67250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Сюжетная подсказка</a:t>
            </a:r>
          </a:p>
        </p:txBody>
      </p:sp>
      <p:sp>
        <p:nvSpPr>
          <p:cNvPr id="9" name="Герой узнаёт свой почерк&#10;и слышит&#10;странную передачу.">
            <a:extLst xmlns:a="http://schemas.openxmlformats.org/drawingml/2006/main">
              <a:ext uri="{FF2B5EF4-FFF2-40B4-BE49-F238E27FC236}">
                <a16:creationId xmlns:a16="http://schemas.microsoft.com/office/drawing/2014/main" id="{2848BBB9-B80C-43DA-B663-C55FBE39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05400"/>
            <a:ext cx="285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Герой узнаёт свой почерк</a:t>
            </a:r>
          </a:p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слышит</a:t>
            </a:r>
          </a:p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странную передачу.</a:t>
            </a:r>
          </a:p>
        </p:txBody>
      </p:sp>
      <p:sp>
        <p:nvSpPr>
          <p:cNvPr id="10" name="Найденные записи сохраняются вместе со сменой">
            <a:extLst xmlns:a="http://schemas.openxmlformats.org/drawingml/2006/main">
              <a:ext uri="{FF2B5EF4-FFF2-40B4-BE49-F238E27FC236}">
                <a16:creationId xmlns:a16="http://schemas.microsoft.com/office/drawing/2014/main" id="{ABFF7EF4-DCEB-4145-BE1D-390B9249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Найденные записи сохраняются вместе со сменой</a:t>
            </a:r>
          </a:p>
        </p:txBody>
      </p:sp>
    </p:spTree>
    <p:extLst>
      <p:ext uri="{BB962C8B-B14F-4D97-AF65-F5344CB8AC3E}">
        <p14:creationId xmlns:p14="http://schemas.microsoft.com/office/powerpoint/2010/main" val="14529867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абота в редакторе Godot">
            <a:extLst xmlns:a="http://schemas.openxmlformats.org/drawingml/2006/main">
              <a:ext uri="{FF2B5EF4-FFF2-40B4-BE49-F238E27FC236}">
                <a16:creationId xmlns:a16="http://schemas.microsoft.com/office/drawing/2014/main" id="{A92B3445-2596-4C48-B467-DC1D3454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Работа в редакторе Godot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D1934CD9-34D2-4C93-A3A8-D297B759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93B63-E487-4DA7-8DAF-41FDC6D0C9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6570cf5da4704"/>
          <a:stretch xmlns:a="http://schemas.openxmlformats.org/drawingml/2006/main"/>
        </p:blipFill>
        <p:spPr>
          <a:xfrm xmlns:a="http://schemas.openxmlformats.org/drawingml/2006/main">
            <a:off x="685800" y="1596231"/>
            <a:ext cx="7620000" cy="4389438"/>
          </a:xfrm>
          <a:prstGeom xmlns:a="http://schemas.openxmlformats.org/drawingml/2006/main" prst="rect">
            <a:avLst/>
          </a:prstGeom>
        </p:spPr>
      </p:pic>
      <p:sp>
        <p:nvSpPr>
          <p:cNvPr id="4" name="Сцены и узлы">
            <a:extLst xmlns:a="http://schemas.openxmlformats.org/drawingml/2006/main">
              <a:ext uri="{FF2B5EF4-FFF2-40B4-BE49-F238E27FC236}">
                <a16:creationId xmlns:a16="http://schemas.microsoft.com/office/drawing/2014/main" id="{86F3E817-4059-4DDB-BC0B-3818D401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Сцены и узлы</a:t>
            </a:r>
          </a:p>
        </p:txBody>
      </p:sp>
      <p:sp>
        <p:nvSpPr>
          <p:cNvPr id="5" name="world.tscn: остров.&#10;keeper.tscn: персонаж.&#10;shadow.tscn: противник">
            <a:extLst xmlns:a="http://schemas.openxmlformats.org/drawingml/2006/main">
              <a:ext uri="{FF2B5EF4-FFF2-40B4-BE49-F238E27FC236}">
                <a16:creationId xmlns:a16="http://schemas.microsoft.com/office/drawing/2014/main" id="{0D7F6AED-D7D8-4852-B457-D6FEF18C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62150"/>
            <a:ext cx="285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world.tscn: остров.</a:t>
            </a:r>
          </a:p>
          <a:p xmlns:a="http://schemas.openxmlformats.org/drawingml/2006/main">
            <a: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keeper.tscn: персонаж.</a:t>
            </a:r>
          </a:p>
          <a:p xmlns:a="http://schemas.openxmlformats.org/drawingml/2006/main">
            <a: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shadow.tscn: противник.</a:t>
            </a:r>
          </a:p>
        </p:txBody>
      </p:sp>
      <p:sp>
        <p:nvSpPr>
          <p:cNvPr id="6" name="Физика и действия">
            <a:extLst xmlns:a="http://schemas.openxmlformats.org/drawingml/2006/main">
              <a:ext uri="{FF2B5EF4-FFF2-40B4-BE49-F238E27FC236}">
                <a16:creationId xmlns:a16="http://schemas.microsoft.com/office/drawing/2014/main" id="{594AAC6E-B23D-4F57-8A86-BFCADD37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95625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Физика и действия</a:t>
            </a:r>
          </a:p>
        </p:txBody>
      </p:sp>
      <p:sp>
        <p:nvSpPr>
          <p:cNvPr id="7" name="CharacterBody3D,&#10;CollisionShape3D и Area3D.">
            <a:extLst xmlns:a="http://schemas.openxmlformats.org/drawingml/2006/main">
              <a:ext uri="{FF2B5EF4-FFF2-40B4-BE49-F238E27FC236}">
                <a16:creationId xmlns:a16="http://schemas.microsoft.com/office/drawing/2014/main" id="{3ADDF7AA-9E24-41F5-BC14-BCD04783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33775"/>
            <a:ext cx="285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CharacterBody3D,</a:t>
            </a:r>
          </a:p>
          <a:p xmlns:a="http://schemas.openxmlformats.org/drawingml/2006/main">
            <a: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CollisionShape3D и Area3D.</a:t>
            </a:r>
          </a:p>
        </p:txBody>
      </p:sp>
      <p:sp>
        <p:nvSpPr>
          <p:cNvPr id="8" name="Графика и анимация">
            <a:extLst xmlns:a="http://schemas.openxmlformats.org/drawingml/2006/main">
              <a:ext uri="{FF2B5EF4-FFF2-40B4-BE49-F238E27FC236}">
                <a16:creationId xmlns:a16="http://schemas.microsoft.com/office/drawing/2014/main" id="{6ECAD249-4800-4C73-ACC7-F82559D0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67250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Графика и анимация</a:t>
            </a:r>
          </a:p>
        </p:txBody>
      </p:sp>
      <p:sp>
        <p:nvSpPr>
          <p:cNvPr id="9" name="AnimationPlayer, свет,&#10;частицы дыма и дождя,&#10;шейдеры воды и листв">
            <a:extLst xmlns:a="http://schemas.openxmlformats.org/drawingml/2006/main">
              <a:ext uri="{FF2B5EF4-FFF2-40B4-BE49-F238E27FC236}">
                <a16:creationId xmlns:a16="http://schemas.microsoft.com/office/drawing/2014/main" id="{F9CA53AF-DCF5-43DD-B232-5C596644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05400"/>
            <a:ext cx="285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AnimationPlayer, свет,</a:t>
            </a:r>
          </a:p>
          <a:p xmlns:a="http://schemas.openxmlformats.org/drawingml/2006/main">
            <a: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частицы дыма и дождя,</a:t>
            </a:r>
          </a:p>
          <a:p xmlns:a="http://schemas.openxmlformats.org/drawingml/2006/main">
            <a:pPr algn="l">
              <a:defRPr sz="17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шейдеры воды и листвы.</a:t>
            </a:r>
          </a:p>
        </p:txBody>
      </p:sp>
      <p:sp>
        <p:nvSpPr>
          <p:cNvPr id="10" name="Открытая сцена world.tscn в редакторе движка">
            <a:extLst xmlns:a="http://schemas.openxmlformats.org/drawingml/2006/main">
              <a:ext uri="{FF2B5EF4-FFF2-40B4-BE49-F238E27FC236}">
                <a16:creationId xmlns:a16="http://schemas.microsoft.com/office/drawing/2014/main" id="{82AF137C-E007-43EA-8E3F-5B68BC48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Открытая сцена world.tscn в редакторе движка</a:t>
            </a:r>
          </a:p>
        </p:txBody>
      </p:sp>
    </p:spTree>
    <p:extLst>
      <p:ext uri="{BB962C8B-B14F-4D97-AF65-F5344CB8AC3E}">
        <p14:creationId xmlns:p14="http://schemas.microsoft.com/office/powerpoint/2010/main" val="17896317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Освоение движка и проверка">
            <a:extLst xmlns:a="http://schemas.openxmlformats.org/drawingml/2006/main">
              <a:ext uri="{FF2B5EF4-FFF2-40B4-BE49-F238E27FC236}">
                <a16:creationId xmlns:a16="http://schemas.microsoft.com/office/drawing/2014/main" id="{C87EC68D-5F7D-4FAA-866B-0099BD84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Освоение движка и проверка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B669111E-FDAB-4F95-8C89-27A73596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Как осваиваем Godot">
            <a:extLst xmlns:a="http://schemas.openxmlformats.org/drawingml/2006/main">
              <a:ext uri="{FF2B5EF4-FFF2-40B4-BE49-F238E27FC236}">
                <a16:creationId xmlns:a16="http://schemas.microsoft.com/office/drawing/2014/main" id="{DCFE6E32-2752-4531-82FA-613A88DD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Как осваиваем Godot</a:t>
            </a:r>
          </a:p>
        </p:txBody>
      </p:sp>
      <p:sp>
        <p:nvSpPr>
          <p:cNvPr id="4" name="Начали без опыта работы с движком.&#10;Использовали помощь ИИ-ассисте">
            <a:extLst xmlns:a="http://schemas.openxmlformats.org/drawingml/2006/main">
              <a:ext uri="{FF2B5EF4-FFF2-40B4-BE49-F238E27FC236}">
                <a16:creationId xmlns:a16="http://schemas.microsoft.com/office/drawing/2014/main" id="{74C10A9D-F500-4CC5-BA60-4E324229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Начали без опыта работы с движком.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Использовали помощь ИИ-ассистента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для подготовки учебного прототипа.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Разбираем сцены и GDScript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на работающих механиках.</a:t>
            </a:r>
          </a:p>
        </p:txBody>
      </p:sp>
      <p:sp>
        <p:nvSpPr>
          <p:cNvPr id="5" name="Как проверяем изменения">
            <a:extLst xmlns:a="http://schemas.openxmlformats.org/drawingml/2006/main">
              <a:ext uri="{FF2B5EF4-FFF2-40B4-BE49-F238E27FC236}">
                <a16:creationId xmlns:a16="http://schemas.microsoft.com/office/drawing/2014/main" id="{AC3416D3-8F8E-4C1C-A0BE-EEAB07D4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57350"/>
            <a:ext cx="502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Как проверяем изменения</a:t>
            </a:r>
          </a:p>
        </p:txBody>
      </p:sp>
      <p:sp>
        <p:nvSpPr>
          <p:cNvPr id="6" name="Запускаем игру в Godot.&#10;Проверяем ресурсы и задания.&#10;Тестируем фи">
            <a:extLst xmlns:a="http://schemas.openxmlformats.org/drawingml/2006/main">
              <a:ext uri="{FF2B5EF4-FFF2-40B4-BE49-F238E27FC236}">
                <a16:creationId xmlns:a16="http://schemas.microsoft.com/office/drawing/2014/main" id="{C36EB947-0672-4B80-B7CD-BFB1C88A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029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Запускаем игру в Godot.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Проверяем ресурсы и задания.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Тестируем физику и поведение теней.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Проверяем сохранение и загрузку.</a:t>
            </a:r>
          </a:p>
        </p:txBody>
      </p:sp>
      <p:sp>
        <p:nvSpPr>
          <p:cNvPr id="7" name="32 из 32">
            <a:extLst xmlns:a="http://schemas.openxmlformats.org/drawingml/2006/main">
              <a:ext uri="{FF2B5EF4-FFF2-40B4-BE49-F238E27FC236}">
                <a16:creationId xmlns:a16="http://schemas.microsoft.com/office/drawing/2014/main" id="{E62459B9-FD52-4ABD-B0B2-215A7031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32 из 32</a:t>
            </a:r>
          </a:p>
        </p:txBody>
      </p:sp>
      <p:sp>
        <p:nvSpPr>
          <p:cNvPr id="8" name="Интеграционные проверки пройдены&#10;Игровой цикл, управление, погода">
            <a:extLst xmlns:a="http://schemas.openxmlformats.org/drawingml/2006/main">
              <a:ext uri="{FF2B5EF4-FFF2-40B4-BE49-F238E27FC236}">
                <a16:creationId xmlns:a16="http://schemas.microsoft.com/office/drawing/2014/main" id="{8BD3CCE3-2DAC-48A0-A6D9-5B1A6BD1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43425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Интеграционные проверки пройдены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Игровой цикл, управление, погода и журнал.</a:t>
            </a:r>
          </a:p>
        </p:txBody>
      </p:sp>
      <p:sp>
        <p:nvSpPr>
          <p:cNvPr id="9" name="github.com/Vlad1k22/lighthouse-keeper">
            <a:extLst xmlns:a="http://schemas.openxmlformats.org/drawingml/2006/main">
              <a:ext uri="{FF2B5EF4-FFF2-40B4-BE49-F238E27FC236}">
                <a16:creationId xmlns:a16="http://schemas.microsoft.com/office/drawing/2014/main" id="{1E5B478E-248D-43DF-B384-F722D70C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7939"/>
                </a:solidFill>
                <a:latin typeface="Arial"/>
                <a:ea typeface="Arial"/>
                <a:cs typeface="Arial"/>
              </a:rPr>
              <a:t>github.com/Vlad1k22/lighthouse-keeper</a:t>
            </a:r>
          </a:p>
        </p:txBody>
      </p:sp>
    </p:spTree>
    <p:extLst>
      <p:ext uri="{BB962C8B-B14F-4D97-AF65-F5344CB8AC3E}">
        <p14:creationId xmlns:p14="http://schemas.microsoft.com/office/powerpoint/2010/main" val="5263207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Дальнейшая разработка">
            <a:extLst xmlns:a="http://schemas.openxmlformats.org/drawingml/2006/main">
              <a:ext uri="{FF2B5EF4-FFF2-40B4-BE49-F238E27FC236}">
                <a16:creationId xmlns:a16="http://schemas.microsoft.com/office/drawing/2014/main" id="{A50699A9-3E02-4B44-A322-3DF05050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Дальнейшая разработка</a:t>
            </a: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BE2F6B1C-5C3D-4D5F-A86D-26D31366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6ED8FC83-E5F6-4701-83EA-BF420485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62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Задания и развитие">
            <a:extLst xmlns:a="http://schemas.openxmlformats.org/drawingml/2006/main">
              <a:ext uri="{FF2B5EF4-FFF2-40B4-BE49-F238E27FC236}">
                <a16:creationId xmlns:a16="http://schemas.microsoft.com/office/drawing/2014/main" id="{559A02DB-B3EE-47B6-BE1D-B63D496F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1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Задания и развитие</a:t>
            </a:r>
          </a:p>
        </p:txBody>
      </p:sp>
      <p:sp>
        <p:nvSpPr>
          <p:cNvPr id="5" name="Новые поручения, предметы и улучшения хижины.">
            <a:extLst xmlns:a="http://schemas.openxmlformats.org/drawingml/2006/main">
              <a:ext uri="{FF2B5EF4-FFF2-40B4-BE49-F238E27FC236}">
                <a16:creationId xmlns:a16="http://schemas.microsoft.com/office/drawing/2014/main" id="{09BA6267-DC87-4D78-AF6A-5E201CA5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574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Новые поручения, предметы и улучшения хижины.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9B944E03-34B6-44FF-895A-263CEEF1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762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Поведение противников">
            <a:extLst xmlns:a="http://schemas.openxmlformats.org/drawingml/2006/main">
              <a:ext uri="{FF2B5EF4-FFF2-40B4-BE49-F238E27FC236}">
                <a16:creationId xmlns:a16="http://schemas.microsoft.com/office/drawing/2014/main" id="{B55060E8-C04D-4537-8D2F-D9B323CF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09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Поведение противников</a:t>
            </a:r>
          </a:p>
        </p:txBody>
      </p:sp>
      <p:sp>
        <p:nvSpPr>
          <p:cNvPr id="8" name="Обход препятствий и усиление угрозы по дням.">
            <a:extLst xmlns:a="http://schemas.openxmlformats.org/drawingml/2006/main">
              <a:ext uri="{FF2B5EF4-FFF2-40B4-BE49-F238E27FC236}">
                <a16:creationId xmlns:a16="http://schemas.microsoft.com/office/drawing/2014/main" id="{E4117DF4-5AA5-41AC-8371-AB2D4084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Обход препятствий и усиление угрозы по дням.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691D55DA-6268-482E-872F-1D78A0EB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762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Сюжет и атмосфера">
            <a:extLst xmlns:a="http://schemas.openxmlformats.org/drawingml/2006/main">
              <a:ext uri="{FF2B5EF4-FFF2-40B4-BE49-F238E27FC236}">
                <a16:creationId xmlns:a16="http://schemas.microsoft.com/office/drawing/2014/main" id="{CDB95054-7042-4BCC-8E9E-6C924C22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00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Сюжет и атмосфера</a:t>
            </a:r>
          </a:p>
        </p:txBody>
      </p:sp>
      <p:sp>
        <p:nvSpPr>
          <p:cNvPr id="11" name="Новые записи, события и изменения восприятия героя.">
            <a:extLst xmlns:a="http://schemas.openxmlformats.org/drawingml/2006/main">
              <a:ext uri="{FF2B5EF4-FFF2-40B4-BE49-F238E27FC236}">
                <a16:creationId xmlns:a16="http://schemas.microsoft.com/office/drawing/2014/main" id="{78BC6F87-C0C0-481A-ABE3-B4CE8B5F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386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Новые записи, события и изменения восприятия героя.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11FBD521-C631-406F-9456-EE522456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762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Кампания">
            <a:extLst xmlns:a="http://schemas.openxmlformats.org/drawingml/2006/main">
              <a:ext uri="{FF2B5EF4-FFF2-40B4-BE49-F238E27FC236}">
                <a16:creationId xmlns:a16="http://schemas.microsoft.com/office/drawing/2014/main" id="{24240D64-6AB2-4ECF-BD9D-A1DAD586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91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Кампания</a:t>
            </a:r>
          </a:p>
        </p:txBody>
      </p:sp>
      <p:sp>
        <p:nvSpPr>
          <p:cNvPr id="14" name="Постепенное расширение до 30 игровых дней.">
            <a:extLst xmlns:a="http://schemas.openxmlformats.org/drawingml/2006/main">
              <a:ext uri="{FF2B5EF4-FFF2-40B4-BE49-F238E27FC236}">
                <a16:creationId xmlns:a16="http://schemas.microsoft.com/office/drawing/2014/main" id="{77B4EF58-9A31-4AB8-92C3-A77DE051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292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Постепенное расширение до 30 игровых дней.</a:t>
            </a:r>
          </a:p>
        </p:txBody>
      </p:sp>
      <p:sp>
        <p:nvSpPr>
          <p:cNvPr id="15" name="Сейчас готова одна демонстрационная смена">
            <a:extLst xmlns:a="http://schemas.openxmlformats.org/drawingml/2006/main">
              <a:ext uri="{FF2B5EF4-FFF2-40B4-BE49-F238E27FC236}">
                <a16:creationId xmlns:a16="http://schemas.microsoft.com/office/drawing/2014/main" id="{2681EDBA-A4C1-4519-A6AD-DFA51A71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C79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7939"/>
                </a:solidFill>
                <a:latin typeface="Arial"/>
                <a:ea typeface="Arial"/>
                <a:cs typeface="Arial"/>
              </a:rPr>
              <a:t>Сейчас готова одна демонстрационная смена</a:t>
            </a:r>
          </a:p>
        </p:txBody>
      </p:sp>
    </p:spTree>
    <p:extLst>
      <p:ext uri="{BB962C8B-B14F-4D97-AF65-F5344CB8AC3E}">
        <p14:creationId xmlns:p14="http://schemas.microsoft.com/office/powerpoint/2010/main" val="397291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1423</Words>
  <Application>Microsoft Office PowerPoint</Application>
  <DocSecurity>0</DocSecurity>
  <PresentationFormat>Широкоэкранный</PresentationFormat>
  <Paragraphs>192</Paragraphs>
  <Slides>18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Влад Людкевич</cp:lastModifiedBy>
  <cp:revision>1</cp:revision>
  <dcterms:created xsi:type="dcterms:W3CDTF">2026-09-27T23:23:19Z</dcterms:created>
  <dcterms:modified xsi:type="dcterms:W3CDTF">2026-09-28T00:13:44Z</dcterms:modified>
</cp:coreProperties>
</file>